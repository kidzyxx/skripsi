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9"/>
  </p:notesMasterIdLst>
  <p:sldIdLst>
    <p:sldId id="256" r:id="rId2"/>
    <p:sldId id="354" r:id="rId3"/>
    <p:sldId id="367" r:id="rId4"/>
    <p:sldId id="356" r:id="rId5"/>
    <p:sldId id="357" r:id="rId6"/>
    <p:sldId id="358" r:id="rId7"/>
    <p:sldId id="359" r:id="rId8"/>
    <p:sldId id="360" r:id="rId9"/>
    <p:sldId id="366" r:id="rId10"/>
    <p:sldId id="362" r:id="rId11"/>
    <p:sldId id="349" r:id="rId12"/>
    <p:sldId id="361" r:id="rId13"/>
    <p:sldId id="363" r:id="rId14"/>
    <p:sldId id="350" r:id="rId15"/>
    <p:sldId id="364" r:id="rId16"/>
    <p:sldId id="365" r:id="rId17"/>
    <p:sldId id="315" r:id="rId18"/>
  </p:sldIdLst>
  <p:sldSz cx="9144000" cy="5143500" type="screen16x9"/>
  <p:notesSz cx="6858000" cy="9144000"/>
  <p:embeddedFontLst>
    <p:embeddedFont>
      <p:font typeface="Arvo" panose="020B0604020202020204" charset="0"/>
      <p:regular r:id="rId20"/>
      <p:bold r:id="rId21"/>
      <p:italic r:id="rId22"/>
      <p:boldItalic r:id="rId23"/>
    </p:embeddedFont>
    <p:embeddedFont>
      <p:font typeface="Barlow Condensed SemiBold" panose="00000706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4343"/>
    <a:srgbClr val="0C2E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4CCCFBB-7025-4ACB-8C2E-EF40082DC93E}">
  <a:tblStyle styleId="{24CCCFBB-7025-4ACB-8C2E-EF40082DC93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93186" autoAdjust="0"/>
  </p:normalViewPr>
  <p:slideViewPr>
    <p:cSldViewPr snapToGrid="0">
      <p:cViewPr varScale="1">
        <p:scale>
          <a:sx n="91" d="100"/>
          <a:sy n="91" d="100"/>
        </p:scale>
        <p:origin x="72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9c487f8d59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9c487f8d59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28577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9c487f8d59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9c487f8d59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9772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9c487f8d59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9c487f8d59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13225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9c487f8d59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9c487f8d59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38241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9c487f8d59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9c487f8d59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3222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9c487f8d59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9c487f8d59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13886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9c487f8d59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9c487f8d59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52135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9c487f8d59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9c487f8d59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25619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9c487f8d59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9c487f8d59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19969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9c487f8d59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9c487f8d59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896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9c487f8d59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9c487f8d59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39479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9c487f8d59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9c487f8d59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57054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9c487f8d59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9c487f8d59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01051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9c487f8d59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9c487f8d59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25808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9c487f8d59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9c487f8d59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75936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g9c487f8d59_0_18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9" name="Google Shape;1569;g9c487f8d59_0_18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" TargetMode="Externa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194950" y="1243575"/>
            <a:ext cx="47463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925950" y="3296175"/>
            <a:ext cx="32922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_1"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5"/>
          <p:cNvSpPr txBox="1">
            <a:spLocks noGrp="1"/>
          </p:cNvSpPr>
          <p:nvPr>
            <p:ph type="ctrTitle"/>
          </p:nvPr>
        </p:nvSpPr>
        <p:spPr>
          <a:xfrm>
            <a:off x="2769125" y="539500"/>
            <a:ext cx="3605700" cy="83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86" name="Google Shape;486;p15"/>
          <p:cNvSpPr txBox="1">
            <a:spLocks noGrp="1"/>
          </p:cNvSpPr>
          <p:nvPr>
            <p:ph type="subTitle" idx="1"/>
          </p:nvPr>
        </p:nvSpPr>
        <p:spPr>
          <a:xfrm>
            <a:off x="2725300" y="1609975"/>
            <a:ext cx="3693300" cy="102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7" name="Google Shape;487;p15"/>
          <p:cNvSpPr txBox="1"/>
          <p:nvPr/>
        </p:nvSpPr>
        <p:spPr>
          <a:xfrm>
            <a:off x="3023550" y="3354600"/>
            <a:ext cx="3096900" cy="8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CREDITS: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Arvo"/>
                <a:ea typeface="Arvo"/>
                <a:cs typeface="Arvo"/>
                <a:sym typeface="Arv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, including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Arvo"/>
                <a:ea typeface="Arvo"/>
                <a:cs typeface="Arvo"/>
                <a:sym typeface="Arv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,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Arvo"/>
                <a:ea typeface="Arvo"/>
                <a:cs typeface="Arvo"/>
                <a:sym typeface="Arv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488" name="Google Shape;488;p15"/>
          <p:cNvGrpSpPr/>
          <p:nvPr/>
        </p:nvGrpSpPr>
        <p:grpSpPr>
          <a:xfrm flipH="1">
            <a:off x="0" y="2933725"/>
            <a:ext cx="2044793" cy="2209776"/>
            <a:chOff x="1384075" y="241450"/>
            <a:chExt cx="4822625" cy="5215425"/>
          </a:xfrm>
        </p:grpSpPr>
        <p:sp>
          <p:nvSpPr>
            <p:cNvPr id="489" name="Google Shape;489;p15"/>
            <p:cNvSpPr/>
            <p:nvPr/>
          </p:nvSpPr>
          <p:spPr>
            <a:xfrm>
              <a:off x="5518700" y="2670675"/>
              <a:ext cx="688000" cy="798950"/>
            </a:xfrm>
            <a:custGeom>
              <a:avLst/>
              <a:gdLst/>
              <a:ahLst/>
              <a:cxnLst/>
              <a:rect l="l" t="t" r="r" b="b"/>
              <a:pathLst>
                <a:path w="27520" h="31958" extrusionOk="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5"/>
            <p:cNvSpPr/>
            <p:nvPr/>
          </p:nvSpPr>
          <p:spPr>
            <a:xfrm>
              <a:off x="4827375" y="3070150"/>
              <a:ext cx="691350" cy="795575"/>
            </a:xfrm>
            <a:custGeom>
              <a:avLst/>
              <a:gdLst/>
              <a:ahLst/>
              <a:cxnLst/>
              <a:rect l="l" t="t" r="r" b="b"/>
              <a:pathLst>
                <a:path w="27654" h="31823" extrusionOk="0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5"/>
            <p:cNvSpPr/>
            <p:nvPr/>
          </p:nvSpPr>
          <p:spPr>
            <a:xfrm>
              <a:off x="4827375" y="2670675"/>
              <a:ext cx="691350" cy="798950"/>
            </a:xfrm>
            <a:custGeom>
              <a:avLst/>
              <a:gdLst/>
              <a:ahLst/>
              <a:cxnLst/>
              <a:rect l="l" t="t" r="r" b="b"/>
              <a:pathLst>
                <a:path w="27654" h="31958" extrusionOk="0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5"/>
            <p:cNvSpPr/>
            <p:nvPr/>
          </p:nvSpPr>
          <p:spPr>
            <a:xfrm>
              <a:off x="4827375" y="1479000"/>
              <a:ext cx="691350" cy="795600"/>
            </a:xfrm>
            <a:custGeom>
              <a:avLst/>
              <a:gdLst/>
              <a:ahLst/>
              <a:cxnLst/>
              <a:rect l="l" t="t" r="r" b="b"/>
              <a:pathLst>
                <a:path w="27654" h="31824" extrusionOk="0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5"/>
            <p:cNvSpPr/>
            <p:nvPr/>
          </p:nvSpPr>
          <p:spPr>
            <a:xfrm>
              <a:off x="4827375" y="1875125"/>
              <a:ext cx="691350" cy="1195050"/>
            </a:xfrm>
            <a:custGeom>
              <a:avLst/>
              <a:gdLst/>
              <a:ahLst/>
              <a:cxnLst/>
              <a:rect l="l" t="t" r="r" b="b"/>
              <a:pathLst>
                <a:path w="27654" h="47802" extrusionOk="0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5"/>
            <p:cNvSpPr/>
            <p:nvPr/>
          </p:nvSpPr>
          <p:spPr>
            <a:xfrm>
              <a:off x="5518700" y="2274575"/>
              <a:ext cx="688000" cy="795600"/>
            </a:xfrm>
            <a:custGeom>
              <a:avLst/>
              <a:gdLst/>
              <a:ahLst/>
              <a:cxnLst/>
              <a:rect l="l" t="t" r="r" b="b"/>
              <a:pathLst>
                <a:path w="27520" h="31824" extrusionOk="0">
                  <a:moveTo>
                    <a:pt x="0" y="0"/>
                  </a:moveTo>
                  <a:lnTo>
                    <a:pt x="0" y="31823"/>
                  </a:lnTo>
                  <a:lnTo>
                    <a:pt x="27520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5"/>
            <p:cNvSpPr/>
            <p:nvPr/>
          </p:nvSpPr>
          <p:spPr>
            <a:xfrm>
              <a:off x="4827375" y="3865700"/>
              <a:ext cx="691350" cy="1195050"/>
            </a:xfrm>
            <a:custGeom>
              <a:avLst/>
              <a:gdLst/>
              <a:ahLst/>
              <a:cxnLst/>
              <a:rect l="l" t="t" r="r" b="b"/>
              <a:pathLst>
                <a:path w="27654" h="47802" extrusionOk="0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5"/>
            <p:cNvSpPr/>
            <p:nvPr/>
          </p:nvSpPr>
          <p:spPr>
            <a:xfrm>
              <a:off x="4830700" y="4661275"/>
              <a:ext cx="688025" cy="795600"/>
            </a:xfrm>
            <a:custGeom>
              <a:avLst/>
              <a:gdLst/>
              <a:ahLst/>
              <a:cxnLst/>
              <a:rect l="l" t="t" r="r" b="b"/>
              <a:pathLst>
                <a:path w="27521" h="31824" extrusionOk="0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5"/>
            <p:cNvSpPr/>
            <p:nvPr/>
          </p:nvSpPr>
          <p:spPr>
            <a:xfrm>
              <a:off x="5518700" y="3865700"/>
              <a:ext cx="688000" cy="795600"/>
            </a:xfrm>
            <a:custGeom>
              <a:avLst/>
              <a:gdLst/>
              <a:ahLst/>
              <a:cxnLst/>
              <a:rect l="l" t="t" r="r" b="b"/>
              <a:pathLst>
                <a:path w="27520" h="31824" extrusionOk="0">
                  <a:moveTo>
                    <a:pt x="0" y="1"/>
                  </a:moveTo>
                  <a:lnTo>
                    <a:pt x="0" y="31824"/>
                  </a:lnTo>
                  <a:lnTo>
                    <a:pt x="27520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5"/>
            <p:cNvSpPr/>
            <p:nvPr/>
          </p:nvSpPr>
          <p:spPr>
            <a:xfrm>
              <a:off x="5518700" y="2670675"/>
              <a:ext cx="688000" cy="798950"/>
            </a:xfrm>
            <a:custGeom>
              <a:avLst/>
              <a:gdLst/>
              <a:ahLst/>
              <a:cxnLst/>
              <a:rect l="l" t="t" r="r" b="b"/>
              <a:pathLst>
                <a:path w="27520" h="31958" extrusionOk="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5"/>
            <p:cNvSpPr/>
            <p:nvPr/>
          </p:nvSpPr>
          <p:spPr>
            <a:xfrm>
              <a:off x="4827375" y="3469600"/>
              <a:ext cx="691350" cy="795575"/>
            </a:xfrm>
            <a:custGeom>
              <a:avLst/>
              <a:gdLst/>
              <a:ahLst/>
              <a:cxnLst/>
              <a:rect l="l" t="t" r="r" b="b"/>
              <a:pathLst>
                <a:path w="27654" h="31823" extrusionOk="0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5"/>
            <p:cNvSpPr/>
            <p:nvPr/>
          </p:nvSpPr>
          <p:spPr>
            <a:xfrm>
              <a:off x="4827375" y="3070150"/>
              <a:ext cx="691350" cy="795575"/>
            </a:xfrm>
            <a:custGeom>
              <a:avLst/>
              <a:gdLst/>
              <a:ahLst/>
              <a:cxnLst/>
              <a:rect l="l" t="t" r="r" b="b"/>
              <a:pathLst>
                <a:path w="27654" h="31823" extrusionOk="0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5"/>
            <p:cNvSpPr/>
            <p:nvPr/>
          </p:nvSpPr>
          <p:spPr>
            <a:xfrm>
              <a:off x="4827375" y="2670675"/>
              <a:ext cx="691350" cy="798950"/>
            </a:xfrm>
            <a:custGeom>
              <a:avLst/>
              <a:gdLst/>
              <a:ahLst/>
              <a:cxnLst/>
              <a:rect l="l" t="t" r="r" b="b"/>
              <a:pathLst>
                <a:path w="27654" h="31958" extrusionOk="0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5"/>
            <p:cNvSpPr/>
            <p:nvPr/>
          </p:nvSpPr>
          <p:spPr>
            <a:xfrm>
              <a:off x="4139375" y="2670675"/>
              <a:ext cx="688025" cy="798950"/>
            </a:xfrm>
            <a:custGeom>
              <a:avLst/>
              <a:gdLst/>
              <a:ahLst/>
              <a:cxnLst/>
              <a:rect l="l" t="t" r="r" b="b"/>
              <a:pathLst>
                <a:path w="27521" h="31958" extrusionOk="0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5"/>
            <p:cNvSpPr/>
            <p:nvPr/>
          </p:nvSpPr>
          <p:spPr>
            <a:xfrm>
              <a:off x="4139375" y="3070150"/>
              <a:ext cx="688025" cy="795575"/>
            </a:xfrm>
            <a:custGeom>
              <a:avLst/>
              <a:gdLst/>
              <a:ahLst/>
              <a:cxnLst/>
              <a:rect l="l" t="t" r="r" b="b"/>
              <a:pathLst>
                <a:path w="27521" h="31823" extrusionOk="0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5"/>
            <p:cNvSpPr/>
            <p:nvPr/>
          </p:nvSpPr>
          <p:spPr>
            <a:xfrm>
              <a:off x="4827375" y="2670675"/>
              <a:ext cx="691350" cy="798950"/>
            </a:xfrm>
            <a:custGeom>
              <a:avLst/>
              <a:gdLst/>
              <a:ahLst/>
              <a:cxnLst/>
              <a:rect l="l" t="t" r="r" b="b"/>
              <a:pathLst>
                <a:path w="27654" h="31958" extrusionOk="0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5"/>
            <p:cNvSpPr/>
            <p:nvPr/>
          </p:nvSpPr>
          <p:spPr>
            <a:xfrm>
              <a:off x="3451375" y="3070150"/>
              <a:ext cx="688025" cy="795575"/>
            </a:xfrm>
            <a:custGeom>
              <a:avLst/>
              <a:gdLst/>
              <a:ahLst/>
              <a:cxnLst/>
              <a:rect l="l" t="t" r="r" b="b"/>
              <a:pathLst>
                <a:path w="27521" h="31823" extrusionOk="0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5"/>
            <p:cNvSpPr/>
            <p:nvPr/>
          </p:nvSpPr>
          <p:spPr>
            <a:xfrm>
              <a:off x="3451375" y="2670675"/>
              <a:ext cx="688025" cy="798950"/>
            </a:xfrm>
            <a:custGeom>
              <a:avLst/>
              <a:gdLst/>
              <a:ahLst/>
              <a:cxnLst/>
              <a:rect l="l" t="t" r="r" b="b"/>
              <a:pathLst>
                <a:path w="27521" h="31958" extrusionOk="0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5"/>
            <p:cNvSpPr/>
            <p:nvPr/>
          </p:nvSpPr>
          <p:spPr>
            <a:xfrm>
              <a:off x="3451375" y="1479000"/>
              <a:ext cx="688025" cy="795600"/>
            </a:xfrm>
            <a:custGeom>
              <a:avLst/>
              <a:gdLst/>
              <a:ahLst/>
              <a:cxnLst/>
              <a:rect l="l" t="t" r="r" b="b"/>
              <a:pathLst>
                <a:path w="27521" h="31824" extrusionOk="0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5"/>
            <p:cNvSpPr/>
            <p:nvPr/>
          </p:nvSpPr>
          <p:spPr>
            <a:xfrm>
              <a:off x="3448050" y="1878450"/>
              <a:ext cx="694675" cy="1191725"/>
            </a:xfrm>
            <a:custGeom>
              <a:avLst/>
              <a:gdLst/>
              <a:ahLst/>
              <a:cxnLst/>
              <a:rect l="l" t="t" r="r" b="b"/>
              <a:pathLst>
                <a:path w="27787" h="47669" extrusionOk="0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5"/>
            <p:cNvSpPr/>
            <p:nvPr/>
          </p:nvSpPr>
          <p:spPr>
            <a:xfrm>
              <a:off x="4139375" y="1878450"/>
              <a:ext cx="688025" cy="1191725"/>
            </a:xfrm>
            <a:custGeom>
              <a:avLst/>
              <a:gdLst/>
              <a:ahLst/>
              <a:cxnLst/>
              <a:rect l="l" t="t" r="r" b="b"/>
              <a:pathLst>
                <a:path w="27521" h="47669" extrusionOk="0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5"/>
            <p:cNvSpPr/>
            <p:nvPr/>
          </p:nvSpPr>
          <p:spPr>
            <a:xfrm>
              <a:off x="4382875" y="241450"/>
              <a:ext cx="201000" cy="229350"/>
            </a:xfrm>
            <a:custGeom>
              <a:avLst/>
              <a:gdLst/>
              <a:ahLst/>
              <a:cxnLst/>
              <a:rect l="l" t="t" r="r" b="b"/>
              <a:pathLst>
                <a:path w="8040" h="9174" extrusionOk="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5"/>
            <p:cNvSpPr/>
            <p:nvPr/>
          </p:nvSpPr>
          <p:spPr>
            <a:xfrm>
              <a:off x="4139375" y="682600"/>
              <a:ext cx="688025" cy="796425"/>
            </a:xfrm>
            <a:custGeom>
              <a:avLst/>
              <a:gdLst/>
              <a:ahLst/>
              <a:cxnLst/>
              <a:rect l="l" t="t" r="r" b="b"/>
              <a:pathLst>
                <a:path w="27521" h="31857" extrusionOk="0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5"/>
            <p:cNvSpPr/>
            <p:nvPr/>
          </p:nvSpPr>
          <p:spPr>
            <a:xfrm>
              <a:off x="3451375" y="4661275"/>
              <a:ext cx="1376025" cy="795600"/>
            </a:xfrm>
            <a:custGeom>
              <a:avLst/>
              <a:gdLst/>
              <a:ahLst/>
              <a:cxnLst/>
              <a:rect l="l" t="t" r="r" b="b"/>
              <a:pathLst>
                <a:path w="55041" h="31824" extrusionOk="0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5"/>
            <p:cNvSpPr/>
            <p:nvPr/>
          </p:nvSpPr>
          <p:spPr>
            <a:xfrm>
              <a:off x="4139375" y="3865700"/>
              <a:ext cx="688025" cy="1195050"/>
            </a:xfrm>
            <a:custGeom>
              <a:avLst/>
              <a:gdLst/>
              <a:ahLst/>
              <a:cxnLst/>
              <a:rect l="l" t="t" r="r" b="b"/>
              <a:pathLst>
                <a:path w="27521" h="47802" extrusionOk="0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5"/>
            <p:cNvSpPr/>
            <p:nvPr/>
          </p:nvSpPr>
          <p:spPr>
            <a:xfrm>
              <a:off x="4139375" y="3469600"/>
              <a:ext cx="688025" cy="795575"/>
            </a:xfrm>
            <a:custGeom>
              <a:avLst/>
              <a:gdLst/>
              <a:ahLst/>
              <a:cxnLst/>
              <a:rect l="l" t="t" r="r" b="b"/>
              <a:pathLst>
                <a:path w="27521" h="31823" extrusionOk="0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5"/>
            <p:cNvSpPr/>
            <p:nvPr/>
          </p:nvSpPr>
          <p:spPr>
            <a:xfrm>
              <a:off x="4827375" y="3469600"/>
              <a:ext cx="691350" cy="795575"/>
            </a:xfrm>
            <a:custGeom>
              <a:avLst/>
              <a:gdLst/>
              <a:ahLst/>
              <a:cxnLst/>
              <a:rect l="l" t="t" r="r" b="b"/>
              <a:pathLst>
                <a:path w="27654" h="31823" extrusionOk="0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5"/>
            <p:cNvSpPr/>
            <p:nvPr/>
          </p:nvSpPr>
          <p:spPr>
            <a:xfrm>
              <a:off x="4827375" y="2670675"/>
              <a:ext cx="691350" cy="798950"/>
            </a:xfrm>
            <a:custGeom>
              <a:avLst/>
              <a:gdLst/>
              <a:ahLst/>
              <a:cxnLst/>
              <a:rect l="l" t="t" r="r" b="b"/>
              <a:pathLst>
                <a:path w="27654" h="31958" extrusionOk="0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5"/>
            <p:cNvSpPr/>
            <p:nvPr/>
          </p:nvSpPr>
          <p:spPr>
            <a:xfrm>
              <a:off x="3451375" y="3469600"/>
              <a:ext cx="688025" cy="795575"/>
            </a:xfrm>
            <a:custGeom>
              <a:avLst/>
              <a:gdLst/>
              <a:ahLst/>
              <a:cxnLst/>
              <a:rect l="l" t="t" r="r" b="b"/>
              <a:pathLst>
                <a:path w="27521" h="31823" extrusionOk="0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5"/>
            <p:cNvSpPr/>
            <p:nvPr/>
          </p:nvSpPr>
          <p:spPr>
            <a:xfrm>
              <a:off x="3451375" y="2670675"/>
              <a:ext cx="1376025" cy="1195050"/>
            </a:xfrm>
            <a:custGeom>
              <a:avLst/>
              <a:gdLst/>
              <a:ahLst/>
              <a:cxnLst/>
              <a:rect l="l" t="t" r="r" b="b"/>
              <a:pathLst>
                <a:path w="55041" h="47802" extrusionOk="0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5"/>
            <p:cNvSpPr/>
            <p:nvPr/>
          </p:nvSpPr>
          <p:spPr>
            <a:xfrm>
              <a:off x="2760050" y="2670675"/>
              <a:ext cx="691350" cy="798950"/>
            </a:xfrm>
            <a:custGeom>
              <a:avLst/>
              <a:gdLst/>
              <a:ahLst/>
              <a:cxnLst/>
              <a:rect l="l" t="t" r="r" b="b"/>
              <a:pathLst>
                <a:path w="27654" h="31958" extrusionOk="0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5"/>
            <p:cNvSpPr/>
            <p:nvPr/>
          </p:nvSpPr>
          <p:spPr>
            <a:xfrm>
              <a:off x="2760050" y="3070150"/>
              <a:ext cx="691350" cy="795575"/>
            </a:xfrm>
            <a:custGeom>
              <a:avLst/>
              <a:gdLst/>
              <a:ahLst/>
              <a:cxnLst/>
              <a:rect l="l" t="t" r="r" b="b"/>
              <a:pathLst>
                <a:path w="27654" h="31823" extrusionOk="0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5"/>
            <p:cNvSpPr/>
            <p:nvPr/>
          </p:nvSpPr>
          <p:spPr>
            <a:xfrm>
              <a:off x="3451375" y="2670675"/>
              <a:ext cx="688025" cy="798950"/>
            </a:xfrm>
            <a:custGeom>
              <a:avLst/>
              <a:gdLst/>
              <a:ahLst/>
              <a:cxnLst/>
              <a:rect l="l" t="t" r="r" b="b"/>
              <a:pathLst>
                <a:path w="27521" h="31958" extrusionOk="0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5"/>
            <p:cNvSpPr/>
            <p:nvPr/>
          </p:nvSpPr>
          <p:spPr>
            <a:xfrm>
              <a:off x="2072075" y="1479000"/>
              <a:ext cx="688000" cy="795600"/>
            </a:xfrm>
            <a:custGeom>
              <a:avLst/>
              <a:gdLst/>
              <a:ahLst/>
              <a:cxnLst/>
              <a:rect l="l" t="t" r="r" b="b"/>
              <a:pathLst>
                <a:path w="27520" h="31824" extrusionOk="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5"/>
            <p:cNvSpPr/>
            <p:nvPr/>
          </p:nvSpPr>
          <p:spPr>
            <a:xfrm>
              <a:off x="1967825" y="2486400"/>
              <a:ext cx="322750" cy="371950"/>
            </a:xfrm>
            <a:custGeom>
              <a:avLst/>
              <a:gdLst/>
              <a:ahLst/>
              <a:cxnLst/>
              <a:rect l="l" t="t" r="r" b="b"/>
              <a:pathLst>
                <a:path w="12910" h="14878" extrusionOk="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5"/>
            <p:cNvSpPr/>
            <p:nvPr/>
          </p:nvSpPr>
          <p:spPr>
            <a:xfrm>
              <a:off x="2065400" y="1412275"/>
              <a:ext cx="218500" cy="254375"/>
            </a:xfrm>
            <a:custGeom>
              <a:avLst/>
              <a:gdLst/>
              <a:ahLst/>
              <a:cxnLst/>
              <a:rect l="l" t="t" r="r" b="b"/>
              <a:pathLst>
                <a:path w="8740" h="10175" extrusionOk="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5"/>
            <p:cNvSpPr/>
            <p:nvPr/>
          </p:nvSpPr>
          <p:spPr>
            <a:xfrm>
              <a:off x="2760050" y="1878450"/>
              <a:ext cx="691350" cy="1191725"/>
            </a:xfrm>
            <a:custGeom>
              <a:avLst/>
              <a:gdLst/>
              <a:ahLst/>
              <a:cxnLst/>
              <a:rect l="l" t="t" r="r" b="b"/>
              <a:pathLst>
                <a:path w="27654" h="47669" extrusionOk="0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5"/>
            <p:cNvSpPr/>
            <p:nvPr/>
          </p:nvSpPr>
          <p:spPr>
            <a:xfrm>
              <a:off x="2760050" y="1479000"/>
              <a:ext cx="691350" cy="795600"/>
            </a:xfrm>
            <a:custGeom>
              <a:avLst/>
              <a:gdLst/>
              <a:ahLst/>
              <a:cxnLst/>
              <a:rect l="l" t="t" r="r" b="b"/>
              <a:pathLst>
                <a:path w="27654" h="31824" extrusionOk="0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5"/>
            <p:cNvSpPr/>
            <p:nvPr/>
          </p:nvSpPr>
          <p:spPr>
            <a:xfrm>
              <a:off x="2072075" y="3865700"/>
              <a:ext cx="688000" cy="795600"/>
            </a:xfrm>
            <a:custGeom>
              <a:avLst/>
              <a:gdLst/>
              <a:ahLst/>
              <a:cxnLst/>
              <a:rect l="l" t="t" r="r" b="b"/>
              <a:pathLst>
                <a:path w="27520" h="31824" extrusionOk="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5"/>
            <p:cNvSpPr/>
            <p:nvPr/>
          </p:nvSpPr>
          <p:spPr>
            <a:xfrm>
              <a:off x="1384075" y="4661275"/>
              <a:ext cx="688025" cy="795600"/>
            </a:xfrm>
            <a:custGeom>
              <a:avLst/>
              <a:gdLst/>
              <a:ahLst/>
              <a:cxnLst/>
              <a:rect l="l" t="t" r="r" b="b"/>
              <a:pathLst>
                <a:path w="27521" h="31824" extrusionOk="0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5"/>
            <p:cNvSpPr/>
            <p:nvPr/>
          </p:nvSpPr>
          <p:spPr>
            <a:xfrm>
              <a:off x="2760050" y="3865700"/>
              <a:ext cx="691350" cy="1591175"/>
            </a:xfrm>
            <a:custGeom>
              <a:avLst/>
              <a:gdLst/>
              <a:ahLst/>
              <a:cxnLst/>
              <a:rect l="l" t="t" r="r" b="b"/>
              <a:pathLst>
                <a:path w="27654" h="63647" extrusionOk="0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5"/>
            <p:cNvSpPr/>
            <p:nvPr/>
          </p:nvSpPr>
          <p:spPr>
            <a:xfrm>
              <a:off x="2760050" y="3469600"/>
              <a:ext cx="691350" cy="795575"/>
            </a:xfrm>
            <a:custGeom>
              <a:avLst/>
              <a:gdLst/>
              <a:ahLst/>
              <a:cxnLst/>
              <a:rect l="l" t="t" r="r" b="b"/>
              <a:pathLst>
                <a:path w="27654" h="31823" extrusionOk="0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5"/>
            <p:cNvSpPr/>
            <p:nvPr/>
          </p:nvSpPr>
          <p:spPr>
            <a:xfrm>
              <a:off x="3448050" y="3469600"/>
              <a:ext cx="691350" cy="1591150"/>
            </a:xfrm>
            <a:custGeom>
              <a:avLst/>
              <a:gdLst/>
              <a:ahLst/>
              <a:cxnLst/>
              <a:rect l="l" t="t" r="r" b="b"/>
              <a:pathLst>
                <a:path w="27654" h="63646" extrusionOk="0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5"/>
            <p:cNvSpPr/>
            <p:nvPr/>
          </p:nvSpPr>
          <p:spPr>
            <a:xfrm>
              <a:off x="2760050" y="2670675"/>
              <a:ext cx="1379350" cy="1195050"/>
            </a:xfrm>
            <a:custGeom>
              <a:avLst/>
              <a:gdLst/>
              <a:ahLst/>
              <a:cxnLst/>
              <a:rect l="l" t="t" r="r" b="b"/>
              <a:pathLst>
                <a:path w="55174" h="47802" extrusionOk="0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3" name="Google Shape;533;p15"/>
          <p:cNvGrpSpPr/>
          <p:nvPr/>
        </p:nvGrpSpPr>
        <p:grpSpPr>
          <a:xfrm flipH="1">
            <a:off x="6934090" y="-76200"/>
            <a:ext cx="2286103" cy="2895537"/>
            <a:chOff x="-26858" y="-227337"/>
            <a:chExt cx="2186403" cy="2757917"/>
          </a:xfrm>
        </p:grpSpPr>
        <p:sp>
          <p:nvSpPr>
            <p:cNvPr id="534" name="Google Shape;534;p1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avLst/>
              <a:gdLst/>
              <a:ahLst/>
              <a:cxnLst/>
              <a:rect l="l" t="t" r="r" b="b"/>
              <a:pathLst>
                <a:path w="27654" h="31823" extrusionOk="0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avLst/>
              <a:gdLst/>
              <a:ahLst/>
              <a:cxnLst/>
              <a:rect l="l" t="t" r="r" b="b"/>
              <a:pathLst>
                <a:path w="27654" h="31958" extrusionOk="0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5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avLst/>
              <a:gdLst/>
              <a:ahLst/>
              <a:cxnLst/>
              <a:rect l="l" t="t" r="r" b="b"/>
              <a:pathLst>
                <a:path w="27654" h="31824" extrusionOk="0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5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avLst/>
              <a:gdLst/>
              <a:ahLst/>
              <a:cxnLst/>
              <a:rect l="l" t="t" r="r" b="b"/>
              <a:pathLst>
                <a:path w="27654" h="47802" extrusionOk="0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5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avLst/>
              <a:gdLst/>
              <a:ahLst/>
              <a:cxnLst/>
              <a:rect l="l" t="t" r="r" b="b"/>
              <a:pathLst>
                <a:path w="27654" h="47802" extrusionOk="0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5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avLst/>
              <a:gdLst/>
              <a:ahLst/>
              <a:cxnLst/>
              <a:rect l="l" t="t" r="r" b="b"/>
              <a:pathLst>
                <a:path w="27521" h="31824" extrusionOk="0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avLst/>
              <a:gdLst/>
              <a:ahLst/>
              <a:cxnLst/>
              <a:rect l="l" t="t" r="r" b="b"/>
              <a:pathLst>
                <a:path w="27654" h="31823" extrusionOk="0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avLst/>
              <a:gdLst/>
              <a:ahLst/>
              <a:cxnLst/>
              <a:rect l="l" t="t" r="r" b="b"/>
              <a:pathLst>
                <a:path w="27654" h="31823" extrusionOk="0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avLst/>
              <a:gdLst/>
              <a:ahLst/>
              <a:cxnLst/>
              <a:rect l="l" t="t" r="r" b="b"/>
              <a:pathLst>
                <a:path w="27654" h="31958" extrusionOk="0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5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avLst/>
              <a:gdLst/>
              <a:ahLst/>
              <a:cxnLst/>
              <a:rect l="l" t="t" r="r" b="b"/>
              <a:pathLst>
                <a:path w="27521" h="31958" extrusionOk="0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5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avLst/>
              <a:gdLst/>
              <a:ahLst/>
              <a:cxnLst/>
              <a:rect l="l" t="t" r="r" b="b"/>
              <a:pathLst>
                <a:path w="27521" h="31823" extrusionOk="0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avLst/>
              <a:gdLst/>
              <a:ahLst/>
              <a:cxnLst/>
              <a:rect l="l" t="t" r="r" b="b"/>
              <a:pathLst>
                <a:path w="27654" h="31958" extrusionOk="0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5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avLst/>
              <a:gdLst/>
              <a:ahLst/>
              <a:cxnLst/>
              <a:rect l="l" t="t" r="r" b="b"/>
              <a:pathLst>
                <a:path w="27521" h="31823" extrusionOk="0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5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avLst/>
              <a:gdLst/>
              <a:ahLst/>
              <a:cxnLst/>
              <a:rect l="l" t="t" r="r" b="b"/>
              <a:pathLst>
                <a:path w="27521" h="31958" extrusionOk="0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5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avLst/>
              <a:gdLst/>
              <a:ahLst/>
              <a:cxnLst/>
              <a:rect l="l" t="t" r="r" b="b"/>
              <a:pathLst>
                <a:path w="27521" h="31824" extrusionOk="0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5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avLst/>
              <a:gdLst/>
              <a:ahLst/>
              <a:cxnLst/>
              <a:rect l="l" t="t" r="r" b="b"/>
              <a:pathLst>
                <a:path w="27787" h="47669" extrusionOk="0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5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avLst/>
              <a:gdLst/>
              <a:ahLst/>
              <a:cxnLst/>
              <a:rect l="l" t="t" r="r" b="b"/>
              <a:pathLst>
                <a:path w="27521" h="47669" extrusionOk="0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5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avLst/>
              <a:gdLst/>
              <a:ahLst/>
              <a:cxnLst/>
              <a:rect l="l" t="t" r="r" b="b"/>
              <a:pathLst>
                <a:path w="8040" h="9174" extrusionOk="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15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avLst/>
              <a:gdLst/>
              <a:ahLst/>
              <a:cxnLst/>
              <a:rect l="l" t="t" r="r" b="b"/>
              <a:pathLst>
                <a:path w="27521" h="31857" extrusionOk="0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15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avLst/>
              <a:gdLst/>
              <a:ahLst/>
              <a:cxnLst/>
              <a:rect l="l" t="t" r="r" b="b"/>
              <a:pathLst>
                <a:path w="55041" h="31824" extrusionOk="0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15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avLst/>
              <a:gdLst/>
              <a:ahLst/>
              <a:cxnLst/>
              <a:rect l="l" t="t" r="r" b="b"/>
              <a:pathLst>
                <a:path w="27521" h="47802" extrusionOk="0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15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avLst/>
              <a:gdLst/>
              <a:ahLst/>
              <a:cxnLst/>
              <a:rect l="l" t="t" r="r" b="b"/>
              <a:pathLst>
                <a:path w="27521" h="31823" extrusionOk="0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avLst/>
              <a:gdLst/>
              <a:ahLst/>
              <a:cxnLst/>
              <a:rect l="l" t="t" r="r" b="b"/>
              <a:pathLst>
                <a:path w="27654" h="31823" extrusionOk="0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avLst/>
              <a:gdLst/>
              <a:ahLst/>
              <a:cxnLst/>
              <a:rect l="l" t="t" r="r" b="b"/>
              <a:pathLst>
                <a:path w="27654" h="31958" extrusionOk="0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5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avLst/>
              <a:gdLst/>
              <a:ahLst/>
              <a:cxnLst/>
              <a:rect l="l" t="t" r="r" b="b"/>
              <a:pathLst>
                <a:path w="27521" h="31823" extrusionOk="0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5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avLst/>
              <a:gdLst/>
              <a:ahLst/>
              <a:cxnLst/>
              <a:rect l="l" t="t" r="r" b="b"/>
              <a:pathLst>
                <a:path w="55041" h="47802" extrusionOk="0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5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avLst/>
              <a:gdLst/>
              <a:ahLst/>
              <a:cxnLst/>
              <a:rect l="l" t="t" r="r" b="b"/>
              <a:pathLst>
                <a:path w="27654" h="31958" extrusionOk="0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5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avLst/>
              <a:gdLst/>
              <a:ahLst/>
              <a:cxnLst/>
              <a:rect l="l" t="t" r="r" b="b"/>
              <a:pathLst>
                <a:path w="27654" h="31823" extrusionOk="0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5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avLst/>
              <a:gdLst/>
              <a:ahLst/>
              <a:cxnLst/>
              <a:rect l="l" t="t" r="r" b="b"/>
              <a:pathLst>
                <a:path w="27521" h="31958" extrusionOk="0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5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avLst/>
              <a:gdLst/>
              <a:ahLst/>
              <a:cxnLst/>
              <a:rect l="l" t="t" r="r" b="b"/>
              <a:pathLst>
                <a:path w="27520" h="31824" extrusionOk="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5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avLst/>
              <a:gdLst/>
              <a:ahLst/>
              <a:cxnLst/>
              <a:rect l="l" t="t" r="r" b="b"/>
              <a:pathLst>
                <a:path w="12910" h="14878" extrusionOk="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5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avLst/>
              <a:gdLst/>
              <a:ahLst/>
              <a:cxnLst/>
              <a:rect l="l" t="t" r="r" b="b"/>
              <a:pathLst>
                <a:path w="8740" h="10175" extrusionOk="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5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avLst/>
              <a:gdLst/>
              <a:ahLst/>
              <a:cxnLst/>
              <a:rect l="l" t="t" r="r" b="b"/>
              <a:pathLst>
                <a:path w="27654" h="47669" extrusionOk="0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5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avLst/>
              <a:gdLst/>
              <a:ahLst/>
              <a:cxnLst/>
              <a:rect l="l" t="t" r="r" b="b"/>
              <a:pathLst>
                <a:path w="27654" h="31824" extrusionOk="0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5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avLst/>
              <a:gdLst/>
              <a:ahLst/>
              <a:cxnLst/>
              <a:rect l="l" t="t" r="r" b="b"/>
              <a:pathLst>
                <a:path w="27520" h="31824" extrusionOk="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5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avLst/>
              <a:gdLst/>
              <a:ahLst/>
              <a:cxnLst/>
              <a:rect l="l" t="t" r="r" b="b"/>
              <a:pathLst>
                <a:path w="27521" h="31824" extrusionOk="0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5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avLst/>
              <a:gdLst/>
              <a:ahLst/>
              <a:cxnLst/>
              <a:rect l="l" t="t" r="r" b="b"/>
              <a:pathLst>
                <a:path w="27654" h="63647" extrusionOk="0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5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avLst/>
              <a:gdLst/>
              <a:ahLst/>
              <a:cxnLst/>
              <a:rect l="l" t="t" r="r" b="b"/>
              <a:pathLst>
                <a:path w="27654" h="31823" extrusionOk="0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5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avLst/>
              <a:gdLst/>
              <a:ahLst/>
              <a:cxnLst/>
              <a:rect l="l" t="t" r="r" b="b"/>
              <a:pathLst>
                <a:path w="27654" h="63646" extrusionOk="0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5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avLst/>
              <a:gdLst/>
              <a:ahLst/>
              <a:cxnLst/>
              <a:rect l="l" t="t" r="r" b="b"/>
              <a:pathLst>
                <a:path w="55174" h="47802" extrusionOk="0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_AND_BODY_2"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6"/>
          <p:cNvSpPr txBox="1">
            <a:spLocks noGrp="1"/>
          </p:cNvSpPr>
          <p:nvPr>
            <p:ph type="title"/>
          </p:nvPr>
        </p:nvSpPr>
        <p:spPr>
          <a:xfrm>
            <a:off x="4306824" y="2036701"/>
            <a:ext cx="3291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76" name="Google Shape;576;p16"/>
          <p:cNvSpPr txBox="1">
            <a:spLocks noGrp="1"/>
          </p:cNvSpPr>
          <p:nvPr>
            <p:ph type="subTitle" idx="1"/>
          </p:nvPr>
        </p:nvSpPr>
        <p:spPr>
          <a:xfrm>
            <a:off x="1865375" y="2706625"/>
            <a:ext cx="4023300" cy="142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77" name="Google Shape;577;p16"/>
          <p:cNvGrpSpPr/>
          <p:nvPr/>
        </p:nvGrpSpPr>
        <p:grpSpPr>
          <a:xfrm rot="-5400000" flipH="1">
            <a:off x="286059" y="-312722"/>
            <a:ext cx="1209907" cy="1782035"/>
            <a:chOff x="700771" y="-227337"/>
            <a:chExt cx="1458774" cy="2138784"/>
          </a:xfrm>
        </p:grpSpPr>
        <p:sp>
          <p:nvSpPr>
            <p:cNvPr id="578" name="Google Shape;578;p16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avLst/>
              <a:gdLst/>
              <a:ahLst/>
              <a:cxnLst/>
              <a:rect l="l" t="t" r="r" b="b"/>
              <a:pathLst>
                <a:path w="27521" h="31823" extrusionOk="0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16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avLst/>
              <a:gdLst/>
              <a:ahLst/>
              <a:cxnLst/>
              <a:rect l="l" t="t" r="r" b="b"/>
              <a:pathLst>
                <a:path w="27521" h="31958" extrusionOk="0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16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avLst/>
              <a:gdLst/>
              <a:ahLst/>
              <a:cxnLst/>
              <a:rect l="l" t="t" r="r" b="b"/>
              <a:pathLst>
                <a:path w="27521" h="31824" extrusionOk="0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6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avLst/>
              <a:gdLst/>
              <a:ahLst/>
              <a:cxnLst/>
              <a:rect l="l" t="t" r="r" b="b"/>
              <a:pathLst>
                <a:path w="27787" h="47669" extrusionOk="0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6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avLst/>
              <a:gdLst/>
              <a:ahLst/>
              <a:cxnLst/>
              <a:rect l="l" t="t" r="r" b="b"/>
              <a:pathLst>
                <a:path w="27521" h="31823" extrusionOk="0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6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avLst/>
              <a:gdLst/>
              <a:ahLst/>
              <a:cxnLst/>
              <a:rect l="l" t="t" r="r" b="b"/>
              <a:pathLst>
                <a:path w="27654" h="31958" extrusionOk="0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6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avLst/>
              <a:gdLst/>
              <a:ahLst/>
              <a:cxnLst/>
              <a:rect l="l" t="t" r="r" b="b"/>
              <a:pathLst>
                <a:path w="27654" h="31823" extrusionOk="0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6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avLst/>
              <a:gdLst/>
              <a:ahLst/>
              <a:cxnLst/>
              <a:rect l="l" t="t" r="r" b="b"/>
              <a:pathLst>
                <a:path w="27521" h="31958" extrusionOk="0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6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avLst/>
              <a:gdLst/>
              <a:ahLst/>
              <a:cxnLst/>
              <a:rect l="l" t="t" r="r" b="b"/>
              <a:pathLst>
                <a:path w="27520" h="31824" extrusionOk="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6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avLst/>
              <a:gdLst/>
              <a:ahLst/>
              <a:cxnLst/>
              <a:rect l="l" t="t" r="r" b="b"/>
              <a:pathLst>
                <a:path w="12910" h="14878" extrusionOk="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6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avLst/>
              <a:gdLst/>
              <a:ahLst/>
              <a:cxnLst/>
              <a:rect l="l" t="t" r="r" b="b"/>
              <a:pathLst>
                <a:path w="8740" h="10175" extrusionOk="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6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avLst/>
              <a:gdLst/>
              <a:ahLst/>
              <a:cxnLst/>
              <a:rect l="l" t="t" r="r" b="b"/>
              <a:pathLst>
                <a:path w="27654" h="47669" extrusionOk="0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6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avLst/>
              <a:gdLst/>
              <a:ahLst/>
              <a:cxnLst/>
              <a:rect l="l" t="t" r="r" b="b"/>
              <a:pathLst>
                <a:path w="27654" h="31824" extrusionOk="0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6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avLst/>
              <a:gdLst/>
              <a:ahLst/>
              <a:cxnLst/>
              <a:rect l="l" t="t" r="r" b="b"/>
              <a:pathLst>
                <a:path w="27520" h="31824" extrusionOk="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6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avLst/>
              <a:gdLst/>
              <a:ahLst/>
              <a:cxnLst/>
              <a:rect l="l" t="t" r="r" b="b"/>
              <a:pathLst>
                <a:path w="27521" h="31824" extrusionOk="0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6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avLst/>
              <a:gdLst/>
              <a:ahLst/>
              <a:cxnLst/>
              <a:rect l="l" t="t" r="r" b="b"/>
              <a:pathLst>
                <a:path w="27654" h="63647" extrusionOk="0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6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avLst/>
              <a:gdLst/>
              <a:ahLst/>
              <a:cxnLst/>
              <a:rect l="l" t="t" r="r" b="b"/>
              <a:pathLst>
                <a:path w="27654" h="31823" extrusionOk="0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6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avLst/>
              <a:gdLst/>
              <a:ahLst/>
              <a:cxnLst/>
              <a:rect l="l" t="t" r="r" b="b"/>
              <a:pathLst>
                <a:path w="27654" h="63646" extrusionOk="0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6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avLst/>
              <a:gdLst/>
              <a:ahLst/>
              <a:cxnLst/>
              <a:rect l="l" t="t" r="r" b="b"/>
              <a:pathLst>
                <a:path w="55174" h="47802" extrusionOk="0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7" name="Google Shape;597;p16"/>
          <p:cNvGrpSpPr/>
          <p:nvPr/>
        </p:nvGrpSpPr>
        <p:grpSpPr>
          <a:xfrm rot="5400000" flipH="1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598" name="Google Shape;598;p1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avLst/>
              <a:gdLst/>
              <a:ahLst/>
              <a:cxnLst/>
              <a:rect l="l" t="t" r="r" b="b"/>
              <a:pathLst>
                <a:path w="27654" h="31823" extrusionOk="0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avLst/>
              <a:gdLst/>
              <a:ahLst/>
              <a:cxnLst/>
              <a:rect l="l" t="t" r="r" b="b"/>
              <a:pathLst>
                <a:path w="27654" h="31958" extrusionOk="0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6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avLst/>
              <a:gdLst/>
              <a:ahLst/>
              <a:cxnLst/>
              <a:rect l="l" t="t" r="r" b="b"/>
              <a:pathLst>
                <a:path w="27654" h="31824" extrusionOk="0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6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avLst/>
              <a:gdLst/>
              <a:ahLst/>
              <a:cxnLst/>
              <a:rect l="l" t="t" r="r" b="b"/>
              <a:pathLst>
                <a:path w="27654" h="47802" extrusionOk="0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6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avLst/>
              <a:gdLst/>
              <a:ahLst/>
              <a:cxnLst/>
              <a:rect l="l" t="t" r="r" b="b"/>
              <a:pathLst>
                <a:path w="27654" h="47802" extrusionOk="0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6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avLst/>
              <a:gdLst/>
              <a:ahLst/>
              <a:cxnLst/>
              <a:rect l="l" t="t" r="r" b="b"/>
              <a:pathLst>
                <a:path w="27521" h="31824" extrusionOk="0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avLst/>
              <a:gdLst/>
              <a:ahLst/>
              <a:cxnLst/>
              <a:rect l="l" t="t" r="r" b="b"/>
              <a:pathLst>
                <a:path w="27654" h="31823" extrusionOk="0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avLst/>
              <a:gdLst/>
              <a:ahLst/>
              <a:cxnLst/>
              <a:rect l="l" t="t" r="r" b="b"/>
              <a:pathLst>
                <a:path w="27654" h="31823" extrusionOk="0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avLst/>
              <a:gdLst/>
              <a:ahLst/>
              <a:cxnLst/>
              <a:rect l="l" t="t" r="r" b="b"/>
              <a:pathLst>
                <a:path w="27654" h="31958" extrusionOk="0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6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avLst/>
              <a:gdLst/>
              <a:ahLst/>
              <a:cxnLst/>
              <a:rect l="l" t="t" r="r" b="b"/>
              <a:pathLst>
                <a:path w="27521" h="31958" extrusionOk="0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6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avLst/>
              <a:gdLst/>
              <a:ahLst/>
              <a:cxnLst/>
              <a:rect l="l" t="t" r="r" b="b"/>
              <a:pathLst>
                <a:path w="27521" h="31823" extrusionOk="0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avLst/>
              <a:gdLst/>
              <a:ahLst/>
              <a:cxnLst/>
              <a:rect l="l" t="t" r="r" b="b"/>
              <a:pathLst>
                <a:path w="27654" h="31958" extrusionOk="0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6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avLst/>
              <a:gdLst/>
              <a:ahLst/>
              <a:cxnLst/>
              <a:rect l="l" t="t" r="r" b="b"/>
              <a:pathLst>
                <a:path w="27521" h="31823" extrusionOk="0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6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avLst/>
              <a:gdLst/>
              <a:ahLst/>
              <a:cxnLst/>
              <a:rect l="l" t="t" r="r" b="b"/>
              <a:pathLst>
                <a:path w="27521" h="47669" extrusionOk="0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6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avLst/>
              <a:gdLst/>
              <a:ahLst/>
              <a:cxnLst/>
              <a:rect l="l" t="t" r="r" b="b"/>
              <a:pathLst>
                <a:path w="8040" h="9174" extrusionOk="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6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avLst/>
              <a:gdLst/>
              <a:ahLst/>
              <a:cxnLst/>
              <a:rect l="l" t="t" r="r" b="b"/>
              <a:pathLst>
                <a:path w="27521" h="31857" extrusionOk="0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6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avLst/>
              <a:gdLst/>
              <a:ahLst/>
              <a:cxnLst/>
              <a:rect l="l" t="t" r="r" b="b"/>
              <a:pathLst>
                <a:path w="55041" h="31824" extrusionOk="0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6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avLst/>
              <a:gdLst/>
              <a:ahLst/>
              <a:cxnLst/>
              <a:rect l="l" t="t" r="r" b="b"/>
              <a:pathLst>
                <a:path w="27521" h="47802" extrusionOk="0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6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avLst/>
              <a:gdLst/>
              <a:ahLst/>
              <a:cxnLst/>
              <a:rect l="l" t="t" r="r" b="b"/>
              <a:pathLst>
                <a:path w="27521" h="31823" extrusionOk="0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avLst/>
              <a:gdLst/>
              <a:ahLst/>
              <a:cxnLst/>
              <a:rect l="l" t="t" r="r" b="b"/>
              <a:pathLst>
                <a:path w="27654" h="31823" extrusionOk="0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avLst/>
              <a:gdLst/>
              <a:ahLst/>
              <a:cxnLst/>
              <a:rect l="l" t="t" r="r" b="b"/>
              <a:pathLst>
                <a:path w="27654" h="31958" extrusionOk="0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6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avLst/>
              <a:gdLst/>
              <a:ahLst/>
              <a:cxnLst/>
              <a:rect l="l" t="t" r="r" b="b"/>
              <a:pathLst>
                <a:path w="55041" h="47802" extrusionOk="0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 Condensed SemiBold"/>
              <a:buNone/>
              <a:defRPr sz="28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●"/>
              <a:defRPr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○"/>
              <a:defRPr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■"/>
              <a:defRPr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●"/>
              <a:defRPr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○"/>
              <a:defRPr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■"/>
              <a:defRPr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●"/>
              <a:defRPr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○"/>
              <a:defRPr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vo"/>
              <a:buChar char="■"/>
              <a:defRPr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61" r:id="rId2"/>
    <p:sldLayoutId id="2147483662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microsoft.com/office/2007/relationships/hdphoto" Target="../media/hdphoto3.wdp"/><Relationship Id="rId5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26"/>
          <p:cNvSpPr txBox="1">
            <a:spLocks noGrp="1"/>
          </p:cNvSpPr>
          <p:nvPr>
            <p:ph type="ctrTitle"/>
          </p:nvPr>
        </p:nvSpPr>
        <p:spPr>
          <a:xfrm>
            <a:off x="1549202" y="1252660"/>
            <a:ext cx="6241477" cy="150300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50000"/>
              </a:lnSpc>
            </a:pPr>
            <a:r>
              <a:rPr lang="en-ID" sz="1600" b="1" dirty="0">
                <a:latin typeface="+mj-lt"/>
              </a:rPr>
              <a:t>PERANCANGAN APLIKASI SISTEM PAKAR BERBASIS WEB UNTUK MENDIAGNOSA GASTROESOPHAGEAL REFLUX DISEASE (GERD) MENGGUNAKAN METODE CASE BASED REASONING (CBR)</a:t>
            </a:r>
            <a:endParaRPr lang="en-US" sz="1600" b="1" dirty="0">
              <a:latin typeface="+mj-lt"/>
            </a:endParaRPr>
          </a:p>
        </p:txBody>
      </p:sp>
      <p:sp>
        <p:nvSpPr>
          <p:cNvPr id="847" name="Google Shape;847;p26"/>
          <p:cNvSpPr txBox="1">
            <a:spLocks noGrp="1"/>
          </p:cNvSpPr>
          <p:nvPr>
            <p:ph type="subTitle" idx="1"/>
          </p:nvPr>
        </p:nvSpPr>
        <p:spPr>
          <a:xfrm>
            <a:off x="2826228" y="3201129"/>
            <a:ext cx="3491544" cy="18791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  <a:latin typeface="Arvo" panose="020B0604020202020204" charset="0"/>
                <a:cs typeface="Arial" panose="020B0604020202020204" pitchFamily="34" charset="0"/>
              </a:rPr>
              <a:t>Rangga Ariansyah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  <a:latin typeface="Arvo" panose="020B0604020202020204" charset="0"/>
                <a:cs typeface="Arial" panose="020B0604020202020204" pitchFamily="34" charset="0"/>
              </a:rPr>
              <a:t>201011400688</a:t>
            </a:r>
          </a:p>
        </p:txBody>
      </p:sp>
      <p:sp>
        <p:nvSpPr>
          <p:cNvPr id="848" name="Google Shape;848;p26"/>
          <p:cNvSpPr/>
          <p:nvPr/>
        </p:nvSpPr>
        <p:spPr>
          <a:xfrm rot="10800000">
            <a:off x="-76200" y="1690558"/>
            <a:ext cx="382257" cy="441707"/>
          </a:xfrm>
          <a:custGeom>
            <a:avLst/>
            <a:gdLst/>
            <a:ahLst/>
            <a:cxnLst/>
            <a:rect l="l" t="t" r="r" b="b"/>
            <a:pathLst>
              <a:path w="27654" h="31824" extrusionOk="0">
                <a:moveTo>
                  <a:pt x="27653" y="1"/>
                </a:moveTo>
                <a:lnTo>
                  <a:pt x="0" y="15845"/>
                </a:lnTo>
                <a:lnTo>
                  <a:pt x="27653" y="31823"/>
                </a:lnTo>
                <a:lnTo>
                  <a:pt x="27653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49" name="Google Shape;849;p26"/>
          <p:cNvSpPr/>
          <p:nvPr/>
        </p:nvSpPr>
        <p:spPr>
          <a:xfrm rot="10800000">
            <a:off x="-76202" y="1248850"/>
            <a:ext cx="382247" cy="663492"/>
          </a:xfrm>
          <a:custGeom>
            <a:avLst/>
            <a:gdLst/>
            <a:ahLst/>
            <a:cxnLst/>
            <a:rect l="l" t="t" r="r" b="b"/>
            <a:pathLst>
              <a:path w="27654" h="47802" extrusionOk="0">
                <a:moveTo>
                  <a:pt x="0" y="0"/>
                </a:moveTo>
                <a:lnTo>
                  <a:pt x="0" y="31823"/>
                </a:lnTo>
                <a:lnTo>
                  <a:pt x="134" y="31956"/>
                </a:lnTo>
                <a:lnTo>
                  <a:pt x="27653" y="47801"/>
                </a:lnTo>
                <a:lnTo>
                  <a:pt x="27653" y="1597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0" name="Google Shape;850;p26"/>
          <p:cNvSpPr/>
          <p:nvPr/>
        </p:nvSpPr>
        <p:spPr>
          <a:xfrm rot="10800000">
            <a:off x="-76200" y="143724"/>
            <a:ext cx="382257" cy="663476"/>
          </a:xfrm>
          <a:custGeom>
            <a:avLst/>
            <a:gdLst/>
            <a:ahLst/>
            <a:cxnLst/>
            <a:rect l="l" t="t" r="r" b="b"/>
            <a:pathLst>
              <a:path w="27654" h="47802" extrusionOk="0">
                <a:moveTo>
                  <a:pt x="27653" y="1"/>
                </a:moveTo>
                <a:lnTo>
                  <a:pt x="0" y="15979"/>
                </a:lnTo>
                <a:lnTo>
                  <a:pt x="0" y="47802"/>
                </a:lnTo>
                <a:lnTo>
                  <a:pt x="134" y="47802"/>
                </a:lnTo>
                <a:lnTo>
                  <a:pt x="27653" y="31824"/>
                </a:lnTo>
                <a:lnTo>
                  <a:pt x="2765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1" name="Google Shape;851;p26"/>
          <p:cNvSpPr/>
          <p:nvPr/>
        </p:nvSpPr>
        <p:spPr>
          <a:xfrm rot="10800000">
            <a:off x="-76202" y="-76210"/>
            <a:ext cx="380409" cy="441717"/>
          </a:xfrm>
          <a:custGeom>
            <a:avLst/>
            <a:gdLst/>
            <a:ahLst/>
            <a:cxnLst/>
            <a:rect l="l" t="t" r="r" b="b"/>
            <a:pathLst>
              <a:path w="27521" h="31824" extrusionOk="0">
                <a:moveTo>
                  <a:pt x="27520" y="1"/>
                </a:moveTo>
                <a:lnTo>
                  <a:pt x="1" y="15979"/>
                </a:lnTo>
                <a:lnTo>
                  <a:pt x="27520" y="31823"/>
                </a:lnTo>
                <a:lnTo>
                  <a:pt x="2752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2" name="Google Shape;852;p26"/>
          <p:cNvSpPr/>
          <p:nvPr/>
        </p:nvSpPr>
        <p:spPr>
          <a:xfrm rot="10800000">
            <a:off x="-76191" y="807176"/>
            <a:ext cx="382247" cy="441703"/>
          </a:xfrm>
          <a:custGeom>
            <a:avLst/>
            <a:gdLst/>
            <a:ahLst/>
            <a:cxnLst/>
            <a:rect l="l" t="t" r="r" b="b"/>
            <a:pathLst>
              <a:path w="27654" h="31823" extrusionOk="0">
                <a:moveTo>
                  <a:pt x="27653" y="0"/>
                </a:moveTo>
                <a:lnTo>
                  <a:pt x="0" y="15978"/>
                </a:lnTo>
                <a:lnTo>
                  <a:pt x="27653" y="31823"/>
                </a:lnTo>
                <a:lnTo>
                  <a:pt x="2765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3" name="Google Shape;853;p26"/>
          <p:cNvSpPr/>
          <p:nvPr/>
        </p:nvSpPr>
        <p:spPr>
          <a:xfrm rot="10800000">
            <a:off x="686447" y="1690558"/>
            <a:ext cx="380418" cy="441707"/>
          </a:xfrm>
          <a:custGeom>
            <a:avLst/>
            <a:gdLst/>
            <a:ahLst/>
            <a:cxnLst/>
            <a:rect l="l" t="t" r="r" b="b"/>
            <a:pathLst>
              <a:path w="27521" h="31824" extrusionOk="0">
                <a:moveTo>
                  <a:pt x="27521" y="1"/>
                </a:moveTo>
                <a:lnTo>
                  <a:pt x="1" y="15845"/>
                </a:lnTo>
                <a:lnTo>
                  <a:pt x="27521" y="31823"/>
                </a:lnTo>
                <a:lnTo>
                  <a:pt x="2752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4" name="Google Shape;854;p26"/>
          <p:cNvSpPr/>
          <p:nvPr/>
        </p:nvSpPr>
        <p:spPr>
          <a:xfrm rot="10800000">
            <a:off x="684609" y="1248865"/>
            <a:ext cx="384095" cy="661630"/>
          </a:xfrm>
          <a:custGeom>
            <a:avLst/>
            <a:gdLst/>
            <a:ahLst/>
            <a:cxnLst/>
            <a:rect l="l" t="t" r="r" b="b"/>
            <a:pathLst>
              <a:path w="27787" h="47669" extrusionOk="0">
                <a:moveTo>
                  <a:pt x="1" y="1"/>
                </a:moveTo>
                <a:lnTo>
                  <a:pt x="134" y="31823"/>
                </a:lnTo>
                <a:lnTo>
                  <a:pt x="27787" y="47668"/>
                </a:lnTo>
                <a:lnTo>
                  <a:pt x="27654" y="15845"/>
                </a:lnTo>
                <a:lnTo>
                  <a:pt x="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5" name="Google Shape;855;p26"/>
          <p:cNvSpPr/>
          <p:nvPr/>
        </p:nvSpPr>
        <p:spPr>
          <a:xfrm rot="10800000">
            <a:off x="306052" y="1248850"/>
            <a:ext cx="380409" cy="661646"/>
          </a:xfrm>
          <a:custGeom>
            <a:avLst/>
            <a:gdLst/>
            <a:ahLst/>
            <a:cxnLst/>
            <a:rect l="l" t="t" r="r" b="b"/>
            <a:pathLst>
              <a:path w="27521" h="47669" extrusionOk="0">
                <a:moveTo>
                  <a:pt x="27520" y="1"/>
                </a:moveTo>
                <a:lnTo>
                  <a:pt x="1" y="15845"/>
                </a:lnTo>
                <a:lnTo>
                  <a:pt x="1" y="47668"/>
                </a:lnTo>
                <a:lnTo>
                  <a:pt x="27520" y="31823"/>
                </a:lnTo>
                <a:lnTo>
                  <a:pt x="27520" y="31690"/>
                </a:lnTo>
                <a:lnTo>
                  <a:pt x="2752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6" name="Google Shape;856;p26"/>
          <p:cNvSpPr/>
          <p:nvPr/>
        </p:nvSpPr>
        <p:spPr>
          <a:xfrm rot="10800000">
            <a:off x="680965" y="2692002"/>
            <a:ext cx="111133" cy="127335"/>
          </a:xfrm>
          <a:custGeom>
            <a:avLst/>
            <a:gdLst/>
            <a:ahLst/>
            <a:cxnLst/>
            <a:rect l="l" t="t" r="r" b="b"/>
            <a:pathLst>
              <a:path w="8040" h="9174" extrusionOk="0">
                <a:moveTo>
                  <a:pt x="8040" y="0"/>
                </a:moveTo>
                <a:lnTo>
                  <a:pt x="1" y="4604"/>
                </a:lnTo>
                <a:lnTo>
                  <a:pt x="8040" y="9174"/>
                </a:lnTo>
                <a:lnTo>
                  <a:pt x="80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7" name="Google Shape;857;p26"/>
          <p:cNvSpPr/>
          <p:nvPr/>
        </p:nvSpPr>
        <p:spPr>
          <a:xfrm rot="10800000">
            <a:off x="306043" y="2132251"/>
            <a:ext cx="380418" cy="442165"/>
          </a:xfrm>
          <a:custGeom>
            <a:avLst/>
            <a:gdLst/>
            <a:ahLst/>
            <a:cxnLst/>
            <a:rect l="l" t="t" r="r" b="b"/>
            <a:pathLst>
              <a:path w="27521" h="31857" extrusionOk="0">
                <a:moveTo>
                  <a:pt x="1" y="0"/>
                </a:moveTo>
                <a:lnTo>
                  <a:pt x="1" y="31857"/>
                </a:lnTo>
                <a:lnTo>
                  <a:pt x="27520" y="15845"/>
                </a:lnTo>
                <a:lnTo>
                  <a:pt x="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8" name="Google Shape;858;p26"/>
          <p:cNvSpPr/>
          <p:nvPr/>
        </p:nvSpPr>
        <p:spPr>
          <a:xfrm rot="10800000">
            <a:off x="306043" y="-76200"/>
            <a:ext cx="760822" cy="441707"/>
          </a:xfrm>
          <a:custGeom>
            <a:avLst/>
            <a:gdLst/>
            <a:ahLst/>
            <a:cxnLst/>
            <a:rect l="l" t="t" r="r" b="b"/>
            <a:pathLst>
              <a:path w="55041" h="31824" extrusionOk="0">
                <a:moveTo>
                  <a:pt x="27521" y="1"/>
                </a:moveTo>
                <a:lnTo>
                  <a:pt x="1" y="15979"/>
                </a:lnTo>
                <a:lnTo>
                  <a:pt x="27521" y="31823"/>
                </a:lnTo>
                <a:lnTo>
                  <a:pt x="55040" y="15979"/>
                </a:lnTo>
                <a:lnTo>
                  <a:pt x="2752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9" name="Google Shape;859;p26"/>
          <p:cNvSpPr/>
          <p:nvPr/>
        </p:nvSpPr>
        <p:spPr>
          <a:xfrm rot="10800000">
            <a:off x="306043" y="143724"/>
            <a:ext cx="380418" cy="663476"/>
          </a:xfrm>
          <a:custGeom>
            <a:avLst/>
            <a:gdLst/>
            <a:ahLst/>
            <a:cxnLst/>
            <a:rect l="l" t="t" r="r" b="b"/>
            <a:pathLst>
              <a:path w="27521" h="47802" extrusionOk="0">
                <a:moveTo>
                  <a:pt x="1" y="1"/>
                </a:moveTo>
                <a:lnTo>
                  <a:pt x="1" y="31824"/>
                </a:lnTo>
                <a:lnTo>
                  <a:pt x="27520" y="47802"/>
                </a:lnTo>
                <a:lnTo>
                  <a:pt x="27520" y="15979"/>
                </a:lnTo>
                <a:lnTo>
                  <a:pt x="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0" name="Google Shape;860;p26"/>
          <p:cNvSpPr/>
          <p:nvPr/>
        </p:nvSpPr>
        <p:spPr>
          <a:xfrm rot="10800000">
            <a:off x="306043" y="585416"/>
            <a:ext cx="380418" cy="441693"/>
          </a:xfrm>
          <a:custGeom>
            <a:avLst/>
            <a:gdLst/>
            <a:ahLst/>
            <a:cxnLst/>
            <a:rect l="l" t="t" r="r" b="b"/>
            <a:pathLst>
              <a:path w="27521" h="31823" extrusionOk="0">
                <a:moveTo>
                  <a:pt x="27520" y="0"/>
                </a:moveTo>
                <a:lnTo>
                  <a:pt x="1" y="15845"/>
                </a:lnTo>
                <a:lnTo>
                  <a:pt x="27520" y="31823"/>
                </a:lnTo>
                <a:lnTo>
                  <a:pt x="2752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1" name="Google Shape;861;p26"/>
          <p:cNvSpPr/>
          <p:nvPr/>
        </p:nvSpPr>
        <p:spPr>
          <a:xfrm rot="10800000">
            <a:off x="-76191" y="585406"/>
            <a:ext cx="382247" cy="441703"/>
          </a:xfrm>
          <a:custGeom>
            <a:avLst/>
            <a:gdLst/>
            <a:ahLst/>
            <a:cxnLst/>
            <a:rect l="l" t="t" r="r" b="b"/>
            <a:pathLst>
              <a:path w="27654" h="31823" extrusionOk="0">
                <a:moveTo>
                  <a:pt x="0" y="0"/>
                </a:moveTo>
                <a:lnTo>
                  <a:pt x="0" y="31823"/>
                </a:lnTo>
                <a:lnTo>
                  <a:pt x="27653" y="1584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2" name="Google Shape;862;p26"/>
          <p:cNvSpPr/>
          <p:nvPr/>
        </p:nvSpPr>
        <p:spPr>
          <a:xfrm rot="10800000">
            <a:off x="-76202" y="1027085"/>
            <a:ext cx="382247" cy="443577"/>
          </a:xfrm>
          <a:custGeom>
            <a:avLst/>
            <a:gdLst/>
            <a:ahLst/>
            <a:cxnLst/>
            <a:rect l="l" t="t" r="r" b="b"/>
            <a:pathLst>
              <a:path w="27654" h="31958" extrusionOk="0">
                <a:moveTo>
                  <a:pt x="0" y="1"/>
                </a:moveTo>
                <a:lnTo>
                  <a:pt x="0" y="31957"/>
                </a:lnTo>
                <a:lnTo>
                  <a:pt x="27653" y="15979"/>
                </a:lnTo>
                <a:lnTo>
                  <a:pt x="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3" name="Google Shape;863;p26"/>
          <p:cNvSpPr/>
          <p:nvPr/>
        </p:nvSpPr>
        <p:spPr>
          <a:xfrm rot="10800000">
            <a:off x="306050" y="807171"/>
            <a:ext cx="760804" cy="663492"/>
          </a:xfrm>
          <a:custGeom>
            <a:avLst/>
            <a:gdLst/>
            <a:ahLst/>
            <a:cxnLst/>
            <a:rect l="l" t="t" r="r" b="b"/>
            <a:pathLst>
              <a:path w="55041" h="47802" extrusionOk="0">
                <a:moveTo>
                  <a:pt x="55040" y="1"/>
                </a:moveTo>
                <a:lnTo>
                  <a:pt x="27521" y="15979"/>
                </a:lnTo>
                <a:lnTo>
                  <a:pt x="1" y="31957"/>
                </a:lnTo>
                <a:lnTo>
                  <a:pt x="27521" y="47802"/>
                </a:lnTo>
                <a:lnTo>
                  <a:pt x="55040" y="31957"/>
                </a:lnTo>
                <a:lnTo>
                  <a:pt x="5504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5" name="Google Shape;865;p26"/>
          <p:cNvSpPr/>
          <p:nvPr/>
        </p:nvSpPr>
        <p:spPr>
          <a:xfrm rot="10800000">
            <a:off x="1549203" y="1366463"/>
            <a:ext cx="178448" cy="206507"/>
          </a:xfrm>
          <a:custGeom>
            <a:avLst/>
            <a:gdLst/>
            <a:ahLst/>
            <a:cxnLst/>
            <a:rect l="l" t="t" r="r" b="b"/>
            <a:pathLst>
              <a:path w="12910" h="14878" extrusionOk="0">
                <a:moveTo>
                  <a:pt x="1" y="0"/>
                </a:moveTo>
                <a:lnTo>
                  <a:pt x="1" y="14877"/>
                </a:lnTo>
                <a:lnTo>
                  <a:pt x="12910" y="7505"/>
                </a:lnTo>
                <a:lnTo>
                  <a:pt x="13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7" name="Google Shape;867;p26"/>
          <p:cNvSpPr/>
          <p:nvPr/>
        </p:nvSpPr>
        <p:spPr>
          <a:xfrm rot="10800000">
            <a:off x="1066851" y="1248865"/>
            <a:ext cx="382257" cy="661630"/>
          </a:xfrm>
          <a:custGeom>
            <a:avLst/>
            <a:gdLst/>
            <a:ahLst/>
            <a:cxnLst/>
            <a:rect l="l" t="t" r="r" b="b"/>
            <a:pathLst>
              <a:path w="27654" h="47669" extrusionOk="0">
                <a:moveTo>
                  <a:pt x="27654" y="1"/>
                </a:moveTo>
                <a:lnTo>
                  <a:pt x="1" y="15845"/>
                </a:lnTo>
                <a:lnTo>
                  <a:pt x="1" y="47668"/>
                </a:lnTo>
                <a:lnTo>
                  <a:pt x="27521" y="31823"/>
                </a:lnTo>
                <a:lnTo>
                  <a:pt x="27654" y="31690"/>
                </a:lnTo>
                <a:lnTo>
                  <a:pt x="27654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8" name="Google Shape;868;p26"/>
          <p:cNvSpPr/>
          <p:nvPr/>
        </p:nvSpPr>
        <p:spPr>
          <a:xfrm rot="10800000">
            <a:off x="1066861" y="1690548"/>
            <a:ext cx="382247" cy="441717"/>
          </a:xfrm>
          <a:custGeom>
            <a:avLst/>
            <a:gdLst/>
            <a:ahLst/>
            <a:cxnLst/>
            <a:rect l="l" t="t" r="r" b="b"/>
            <a:pathLst>
              <a:path w="27654" h="31824" extrusionOk="0">
                <a:moveTo>
                  <a:pt x="1" y="1"/>
                </a:moveTo>
                <a:lnTo>
                  <a:pt x="1" y="31823"/>
                </a:lnTo>
                <a:lnTo>
                  <a:pt x="27654" y="15979"/>
                </a:lnTo>
                <a:lnTo>
                  <a:pt x="27654" y="15845"/>
                </a:lnTo>
                <a:lnTo>
                  <a:pt x="1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9" name="Google Shape;869;p26"/>
          <p:cNvSpPr/>
          <p:nvPr/>
        </p:nvSpPr>
        <p:spPr>
          <a:xfrm rot="10800000">
            <a:off x="1449103" y="365483"/>
            <a:ext cx="380395" cy="441717"/>
          </a:xfrm>
          <a:custGeom>
            <a:avLst/>
            <a:gdLst/>
            <a:ahLst/>
            <a:cxnLst/>
            <a:rect l="l" t="t" r="r" b="b"/>
            <a:pathLst>
              <a:path w="27520" h="31824" extrusionOk="0">
                <a:moveTo>
                  <a:pt x="27520" y="1"/>
                </a:moveTo>
                <a:lnTo>
                  <a:pt x="0" y="15979"/>
                </a:lnTo>
                <a:lnTo>
                  <a:pt x="27520" y="31824"/>
                </a:lnTo>
                <a:lnTo>
                  <a:pt x="2752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0" name="Google Shape;870;p26"/>
          <p:cNvSpPr/>
          <p:nvPr/>
        </p:nvSpPr>
        <p:spPr>
          <a:xfrm rot="10800000">
            <a:off x="2069765" y="-76210"/>
            <a:ext cx="380409" cy="441717"/>
          </a:xfrm>
          <a:custGeom>
            <a:avLst/>
            <a:gdLst/>
            <a:ahLst/>
            <a:cxnLst/>
            <a:rect l="l" t="t" r="r" b="b"/>
            <a:pathLst>
              <a:path w="27521" h="31824" extrusionOk="0">
                <a:moveTo>
                  <a:pt x="1" y="1"/>
                </a:moveTo>
                <a:lnTo>
                  <a:pt x="1" y="31823"/>
                </a:lnTo>
                <a:lnTo>
                  <a:pt x="27520" y="15979"/>
                </a:lnTo>
                <a:lnTo>
                  <a:pt x="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1" name="Google Shape;871;p26"/>
          <p:cNvSpPr/>
          <p:nvPr/>
        </p:nvSpPr>
        <p:spPr>
          <a:xfrm rot="10800000">
            <a:off x="1066851" y="-76200"/>
            <a:ext cx="382257" cy="883400"/>
          </a:xfrm>
          <a:custGeom>
            <a:avLst/>
            <a:gdLst/>
            <a:ahLst/>
            <a:cxnLst/>
            <a:rect l="l" t="t" r="r" b="b"/>
            <a:pathLst>
              <a:path w="27654" h="63647" extrusionOk="0">
                <a:moveTo>
                  <a:pt x="1" y="1"/>
                </a:moveTo>
                <a:lnTo>
                  <a:pt x="1" y="31824"/>
                </a:lnTo>
                <a:lnTo>
                  <a:pt x="1" y="63646"/>
                </a:lnTo>
                <a:lnTo>
                  <a:pt x="27521" y="47802"/>
                </a:lnTo>
                <a:lnTo>
                  <a:pt x="27654" y="47802"/>
                </a:lnTo>
                <a:lnTo>
                  <a:pt x="27654" y="15979"/>
                </a:lnTo>
                <a:lnTo>
                  <a:pt x="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2" name="Google Shape;872;p26"/>
          <p:cNvSpPr/>
          <p:nvPr/>
        </p:nvSpPr>
        <p:spPr>
          <a:xfrm rot="10800000">
            <a:off x="1066851" y="585416"/>
            <a:ext cx="382257" cy="441693"/>
          </a:xfrm>
          <a:custGeom>
            <a:avLst/>
            <a:gdLst/>
            <a:ahLst/>
            <a:cxnLst/>
            <a:rect l="l" t="t" r="r" b="b"/>
            <a:pathLst>
              <a:path w="27654" h="31823" extrusionOk="0">
                <a:moveTo>
                  <a:pt x="27654" y="0"/>
                </a:moveTo>
                <a:lnTo>
                  <a:pt x="1" y="15845"/>
                </a:lnTo>
                <a:lnTo>
                  <a:pt x="27654" y="31823"/>
                </a:lnTo>
                <a:lnTo>
                  <a:pt x="2765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3" name="Google Shape;873;p26"/>
          <p:cNvSpPr/>
          <p:nvPr/>
        </p:nvSpPr>
        <p:spPr>
          <a:xfrm rot="10800000">
            <a:off x="686445" y="143703"/>
            <a:ext cx="382247" cy="883406"/>
          </a:xfrm>
          <a:custGeom>
            <a:avLst/>
            <a:gdLst/>
            <a:ahLst/>
            <a:cxnLst/>
            <a:rect l="l" t="t" r="r" b="b"/>
            <a:pathLst>
              <a:path w="27654" h="63646" extrusionOk="0">
                <a:moveTo>
                  <a:pt x="134" y="0"/>
                </a:moveTo>
                <a:lnTo>
                  <a:pt x="1" y="31823"/>
                </a:lnTo>
                <a:lnTo>
                  <a:pt x="134" y="31823"/>
                </a:lnTo>
                <a:lnTo>
                  <a:pt x="134" y="63646"/>
                </a:lnTo>
                <a:lnTo>
                  <a:pt x="27654" y="47668"/>
                </a:lnTo>
                <a:lnTo>
                  <a:pt x="27654" y="15845"/>
                </a:lnTo>
                <a:lnTo>
                  <a:pt x="13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4" name="Google Shape;874;p26"/>
          <p:cNvSpPr/>
          <p:nvPr/>
        </p:nvSpPr>
        <p:spPr>
          <a:xfrm rot="10800000">
            <a:off x="686465" y="807171"/>
            <a:ext cx="762643" cy="663492"/>
          </a:xfrm>
          <a:custGeom>
            <a:avLst/>
            <a:gdLst/>
            <a:ahLst/>
            <a:cxnLst/>
            <a:rect l="l" t="t" r="r" b="b"/>
            <a:pathLst>
              <a:path w="55174" h="47802" extrusionOk="0">
                <a:moveTo>
                  <a:pt x="27654" y="1"/>
                </a:moveTo>
                <a:lnTo>
                  <a:pt x="1" y="15979"/>
                </a:lnTo>
                <a:lnTo>
                  <a:pt x="1" y="47802"/>
                </a:lnTo>
                <a:lnTo>
                  <a:pt x="27654" y="31957"/>
                </a:lnTo>
                <a:lnTo>
                  <a:pt x="55174" y="15979"/>
                </a:lnTo>
                <a:lnTo>
                  <a:pt x="2765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5" name="Google Shape;875;p26"/>
          <p:cNvSpPr/>
          <p:nvPr/>
        </p:nvSpPr>
        <p:spPr>
          <a:xfrm>
            <a:off x="8761740" y="4256839"/>
            <a:ext cx="382247" cy="663492"/>
          </a:xfrm>
          <a:custGeom>
            <a:avLst/>
            <a:gdLst/>
            <a:ahLst/>
            <a:cxnLst/>
            <a:rect l="l" t="t" r="r" b="b"/>
            <a:pathLst>
              <a:path w="27654" h="47802" extrusionOk="0">
                <a:moveTo>
                  <a:pt x="27653" y="1"/>
                </a:moveTo>
                <a:lnTo>
                  <a:pt x="0" y="15979"/>
                </a:lnTo>
                <a:lnTo>
                  <a:pt x="0" y="47802"/>
                </a:lnTo>
                <a:lnTo>
                  <a:pt x="134" y="47802"/>
                </a:lnTo>
                <a:lnTo>
                  <a:pt x="27653" y="31824"/>
                </a:lnTo>
                <a:lnTo>
                  <a:pt x="2765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6" name="Google Shape;876;p26"/>
          <p:cNvSpPr/>
          <p:nvPr/>
        </p:nvSpPr>
        <p:spPr>
          <a:xfrm>
            <a:off x="8763590" y="4698532"/>
            <a:ext cx="380409" cy="441717"/>
          </a:xfrm>
          <a:custGeom>
            <a:avLst/>
            <a:gdLst/>
            <a:ahLst/>
            <a:cxnLst/>
            <a:rect l="l" t="t" r="r" b="b"/>
            <a:pathLst>
              <a:path w="27521" h="31824" extrusionOk="0">
                <a:moveTo>
                  <a:pt x="27520" y="1"/>
                </a:moveTo>
                <a:lnTo>
                  <a:pt x="1" y="15979"/>
                </a:lnTo>
                <a:lnTo>
                  <a:pt x="27520" y="31823"/>
                </a:lnTo>
                <a:lnTo>
                  <a:pt x="2752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7" name="Google Shape;877;p26"/>
          <p:cNvSpPr/>
          <p:nvPr/>
        </p:nvSpPr>
        <p:spPr>
          <a:xfrm>
            <a:off x="8652474" y="3168852"/>
            <a:ext cx="111133" cy="127335"/>
          </a:xfrm>
          <a:custGeom>
            <a:avLst/>
            <a:gdLst/>
            <a:ahLst/>
            <a:cxnLst/>
            <a:rect l="l" t="t" r="r" b="b"/>
            <a:pathLst>
              <a:path w="8040" h="9174" extrusionOk="0">
                <a:moveTo>
                  <a:pt x="8040" y="0"/>
                </a:moveTo>
                <a:lnTo>
                  <a:pt x="1" y="4604"/>
                </a:lnTo>
                <a:lnTo>
                  <a:pt x="8040" y="9174"/>
                </a:lnTo>
                <a:lnTo>
                  <a:pt x="80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8" name="Google Shape;878;p26"/>
          <p:cNvSpPr/>
          <p:nvPr/>
        </p:nvSpPr>
        <p:spPr>
          <a:xfrm>
            <a:off x="8000931" y="4698532"/>
            <a:ext cx="760804" cy="441717"/>
          </a:xfrm>
          <a:custGeom>
            <a:avLst/>
            <a:gdLst/>
            <a:ahLst/>
            <a:cxnLst/>
            <a:rect l="l" t="t" r="r" b="b"/>
            <a:pathLst>
              <a:path w="55041" h="31824" extrusionOk="0">
                <a:moveTo>
                  <a:pt x="27521" y="1"/>
                </a:moveTo>
                <a:lnTo>
                  <a:pt x="1" y="15979"/>
                </a:lnTo>
                <a:lnTo>
                  <a:pt x="27521" y="31823"/>
                </a:lnTo>
                <a:lnTo>
                  <a:pt x="55040" y="15979"/>
                </a:lnTo>
                <a:lnTo>
                  <a:pt x="27521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9" name="Google Shape;879;p26"/>
          <p:cNvSpPr/>
          <p:nvPr/>
        </p:nvSpPr>
        <p:spPr>
          <a:xfrm>
            <a:off x="8381336" y="4256839"/>
            <a:ext cx="380409" cy="663492"/>
          </a:xfrm>
          <a:custGeom>
            <a:avLst/>
            <a:gdLst/>
            <a:ahLst/>
            <a:cxnLst/>
            <a:rect l="l" t="t" r="r" b="b"/>
            <a:pathLst>
              <a:path w="27521" h="47802" extrusionOk="0">
                <a:moveTo>
                  <a:pt x="1" y="1"/>
                </a:moveTo>
                <a:lnTo>
                  <a:pt x="1" y="31824"/>
                </a:lnTo>
                <a:lnTo>
                  <a:pt x="27520" y="47802"/>
                </a:lnTo>
                <a:lnTo>
                  <a:pt x="27520" y="15979"/>
                </a:lnTo>
                <a:lnTo>
                  <a:pt x="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0" name="Google Shape;880;p26"/>
          <p:cNvSpPr/>
          <p:nvPr/>
        </p:nvSpPr>
        <p:spPr>
          <a:xfrm>
            <a:off x="8761740" y="4036930"/>
            <a:ext cx="382247" cy="441703"/>
          </a:xfrm>
          <a:custGeom>
            <a:avLst/>
            <a:gdLst/>
            <a:ahLst/>
            <a:cxnLst/>
            <a:rect l="l" t="t" r="r" b="b"/>
            <a:pathLst>
              <a:path w="27654" h="31823" extrusionOk="0">
                <a:moveTo>
                  <a:pt x="0" y="0"/>
                </a:moveTo>
                <a:lnTo>
                  <a:pt x="0" y="31823"/>
                </a:lnTo>
                <a:lnTo>
                  <a:pt x="27653" y="1584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1" name="Google Shape;881;p26"/>
          <p:cNvSpPr/>
          <p:nvPr/>
        </p:nvSpPr>
        <p:spPr>
          <a:xfrm>
            <a:off x="7822482" y="3491070"/>
            <a:ext cx="178448" cy="206507"/>
          </a:xfrm>
          <a:custGeom>
            <a:avLst/>
            <a:gdLst/>
            <a:ahLst/>
            <a:cxnLst/>
            <a:rect l="l" t="t" r="r" b="b"/>
            <a:pathLst>
              <a:path w="12910" h="14878" extrusionOk="0">
                <a:moveTo>
                  <a:pt x="1" y="0"/>
                </a:moveTo>
                <a:lnTo>
                  <a:pt x="1" y="14877"/>
                </a:lnTo>
                <a:lnTo>
                  <a:pt x="12910" y="7505"/>
                </a:lnTo>
                <a:lnTo>
                  <a:pt x="13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2" name="Google Shape;882;p26"/>
          <p:cNvSpPr/>
          <p:nvPr/>
        </p:nvSpPr>
        <p:spPr>
          <a:xfrm>
            <a:off x="7259448" y="4698532"/>
            <a:ext cx="380409" cy="441717"/>
          </a:xfrm>
          <a:custGeom>
            <a:avLst/>
            <a:gdLst/>
            <a:ahLst/>
            <a:cxnLst/>
            <a:rect l="l" t="t" r="r" b="b"/>
            <a:pathLst>
              <a:path w="27521" h="31824" extrusionOk="0">
                <a:moveTo>
                  <a:pt x="1" y="1"/>
                </a:moveTo>
                <a:lnTo>
                  <a:pt x="1" y="31823"/>
                </a:lnTo>
                <a:lnTo>
                  <a:pt x="27520" y="15979"/>
                </a:lnTo>
                <a:lnTo>
                  <a:pt x="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38F22C-0265-4969-BE45-D351C6E56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067" y="65962"/>
            <a:ext cx="1620596" cy="12107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32"/>
          <p:cNvSpPr txBox="1">
            <a:spLocks noGrp="1"/>
          </p:cNvSpPr>
          <p:nvPr>
            <p:ph type="title"/>
          </p:nvPr>
        </p:nvSpPr>
        <p:spPr>
          <a:xfrm>
            <a:off x="2560350" y="122059"/>
            <a:ext cx="4023300" cy="8822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LATAR BELAKANG</a:t>
            </a:r>
            <a:endParaRPr dirty="0"/>
          </a:p>
        </p:txBody>
      </p:sp>
      <p:sp>
        <p:nvSpPr>
          <p:cNvPr id="926" name="Google Shape;926;p32"/>
          <p:cNvSpPr txBox="1">
            <a:spLocks noGrp="1"/>
          </p:cNvSpPr>
          <p:nvPr>
            <p:ph type="subTitle" idx="1"/>
          </p:nvPr>
        </p:nvSpPr>
        <p:spPr>
          <a:xfrm>
            <a:off x="348615" y="968039"/>
            <a:ext cx="8446770" cy="28187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en-ID" dirty="0" err="1">
                <a:latin typeface="+mn-lt"/>
              </a:rPr>
              <a:t>Menurut</a:t>
            </a:r>
            <a:r>
              <a:rPr lang="en-ID" dirty="0">
                <a:latin typeface="+mn-lt"/>
              </a:rPr>
              <a:t> Health Line, </a:t>
            </a:r>
            <a:r>
              <a:rPr lang="en-ID" dirty="0" err="1">
                <a:latin typeface="+mn-lt"/>
              </a:rPr>
              <a:t>sekitar</a:t>
            </a:r>
            <a:r>
              <a:rPr lang="en-ID" dirty="0">
                <a:latin typeface="+mn-lt"/>
              </a:rPr>
              <a:t> 60% orang </a:t>
            </a:r>
            <a:r>
              <a:rPr lang="en-ID" dirty="0" err="1">
                <a:latin typeface="+mn-lt"/>
              </a:rPr>
              <a:t>dewasa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mengalami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masalah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kesehatan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lambung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seperti</a:t>
            </a:r>
            <a:r>
              <a:rPr lang="en-ID" dirty="0">
                <a:latin typeface="+mn-lt"/>
              </a:rPr>
              <a:t> GERD, </a:t>
            </a:r>
            <a:r>
              <a:rPr lang="en-ID" dirty="0" err="1">
                <a:latin typeface="+mn-lt"/>
              </a:rPr>
              <a:t>dengan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prevalensi</a:t>
            </a:r>
            <a:r>
              <a:rPr lang="en-ID" dirty="0">
                <a:latin typeface="+mn-lt"/>
              </a:rPr>
              <a:t> di Indonesia </a:t>
            </a:r>
            <a:r>
              <a:rPr lang="en-ID" dirty="0" err="1">
                <a:latin typeface="+mn-lt"/>
              </a:rPr>
              <a:t>mencapai</a:t>
            </a:r>
            <a:r>
              <a:rPr lang="en-ID" dirty="0">
                <a:latin typeface="+mn-lt"/>
              </a:rPr>
              <a:t> 27,4% pada </a:t>
            </a:r>
            <a:r>
              <a:rPr lang="en-ID" dirty="0" err="1">
                <a:latin typeface="+mn-lt"/>
              </a:rPr>
              <a:t>tahun</a:t>
            </a:r>
            <a:r>
              <a:rPr lang="en-ID" dirty="0">
                <a:latin typeface="+mn-lt"/>
              </a:rPr>
              <a:t> 2018 </a:t>
            </a:r>
            <a:r>
              <a:rPr lang="en-ID" dirty="0" err="1">
                <a:latin typeface="+mn-lt"/>
              </a:rPr>
              <a:t>menurut</a:t>
            </a:r>
            <a:r>
              <a:rPr lang="en-ID" dirty="0">
                <a:latin typeface="+mn-lt"/>
              </a:rPr>
              <a:t> Yayasan </a:t>
            </a:r>
            <a:r>
              <a:rPr lang="en-ID" dirty="0" err="1">
                <a:latin typeface="+mn-lt"/>
              </a:rPr>
              <a:t>Gastroenterologi</a:t>
            </a:r>
            <a:r>
              <a:rPr lang="en-ID" dirty="0">
                <a:latin typeface="+mn-lt"/>
              </a:rPr>
              <a:t> Indonesia. </a:t>
            </a:r>
            <a:r>
              <a:rPr lang="en-ID" dirty="0" err="1">
                <a:latin typeface="+mn-lt"/>
              </a:rPr>
              <a:t>Penyakit</a:t>
            </a:r>
            <a:r>
              <a:rPr lang="en-ID" dirty="0">
                <a:latin typeface="+mn-lt"/>
              </a:rPr>
              <a:t> gastrointestinal </a:t>
            </a:r>
            <a:r>
              <a:rPr lang="en-ID" dirty="0" err="1">
                <a:latin typeface="+mn-lt"/>
              </a:rPr>
              <a:t>termasuk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dalam</a:t>
            </a:r>
            <a:r>
              <a:rPr lang="en-ID" dirty="0">
                <a:latin typeface="+mn-lt"/>
              </a:rPr>
              <a:t> 10 </a:t>
            </a:r>
            <a:r>
              <a:rPr lang="en-ID" dirty="0" err="1">
                <a:latin typeface="+mn-lt"/>
              </a:rPr>
              <a:t>besar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penyakit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terbanyak</a:t>
            </a:r>
            <a:r>
              <a:rPr lang="en-ID" dirty="0">
                <a:latin typeface="+mn-lt"/>
              </a:rPr>
              <a:t> di Indonesia </a:t>
            </a:r>
            <a:r>
              <a:rPr lang="en-ID" dirty="0" err="1">
                <a:latin typeface="+mn-lt"/>
              </a:rPr>
              <a:t>menurut</a:t>
            </a:r>
            <a:r>
              <a:rPr lang="en-ID" dirty="0">
                <a:latin typeface="+mn-lt"/>
              </a:rPr>
              <a:t> Kementerian Kesehatan.</a:t>
            </a:r>
          </a:p>
          <a:p>
            <a:pPr marL="0" indent="0" algn="just">
              <a:lnSpc>
                <a:spcPct val="150000"/>
              </a:lnSpc>
            </a:pPr>
            <a:endParaRPr lang="en-ID" dirty="0">
              <a:latin typeface="+mn-lt"/>
            </a:endParaRPr>
          </a:p>
          <a:p>
            <a:pPr marL="0" indent="0" algn="just">
              <a:lnSpc>
                <a:spcPct val="150000"/>
              </a:lnSpc>
            </a:pPr>
            <a:r>
              <a:rPr lang="en-ID" dirty="0">
                <a:latin typeface="+mn-lt"/>
              </a:rPr>
              <a:t>Organ </a:t>
            </a:r>
            <a:r>
              <a:rPr lang="en-ID" dirty="0" err="1">
                <a:latin typeface="+mn-lt"/>
              </a:rPr>
              <a:t>Lambung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rentan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terhadap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infeksi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bakteri</a:t>
            </a:r>
            <a:r>
              <a:rPr lang="en-ID" dirty="0">
                <a:latin typeface="+mn-lt"/>
              </a:rPr>
              <a:t> dan </a:t>
            </a:r>
            <a:r>
              <a:rPr lang="en-ID" dirty="0" err="1">
                <a:latin typeface="+mn-lt"/>
              </a:rPr>
              <a:t>luka</a:t>
            </a:r>
            <a:r>
              <a:rPr lang="en-ID" dirty="0">
                <a:latin typeface="+mn-lt"/>
              </a:rPr>
              <a:t>. </a:t>
            </a:r>
            <a:r>
              <a:rPr lang="en-ID" dirty="0" err="1">
                <a:latin typeface="+mn-lt"/>
              </a:rPr>
              <a:t>Meningkatnya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asam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lambung</a:t>
            </a:r>
            <a:r>
              <a:rPr lang="en-ID" dirty="0">
                <a:latin typeface="+mn-lt"/>
              </a:rPr>
              <a:t>, yang </a:t>
            </a:r>
            <a:r>
              <a:rPr lang="en-ID" dirty="0" err="1">
                <a:latin typeface="+mn-lt"/>
              </a:rPr>
              <a:t>bisa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dipicu</a:t>
            </a:r>
            <a:r>
              <a:rPr lang="en-ID" dirty="0">
                <a:latin typeface="+mn-lt"/>
              </a:rPr>
              <a:t> oleh </a:t>
            </a:r>
            <a:r>
              <a:rPr lang="en-ID" dirty="0" err="1">
                <a:latin typeface="+mn-lt"/>
              </a:rPr>
              <a:t>konsumsi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makanan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berlemak</a:t>
            </a:r>
            <a:r>
              <a:rPr lang="en-ID" dirty="0">
                <a:latin typeface="+mn-lt"/>
              </a:rPr>
              <a:t> dan </a:t>
            </a:r>
            <a:r>
              <a:rPr lang="en-ID" dirty="0" err="1">
                <a:latin typeface="+mn-lt"/>
              </a:rPr>
              <a:t>buah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masam</a:t>
            </a:r>
            <a:r>
              <a:rPr lang="en-ID" dirty="0">
                <a:latin typeface="+mn-lt"/>
              </a:rPr>
              <a:t>, </a:t>
            </a:r>
            <a:r>
              <a:rPr lang="en-ID" dirty="0" err="1">
                <a:latin typeface="+mn-lt"/>
              </a:rPr>
              <a:t>merupakan</a:t>
            </a:r>
            <a:r>
              <a:rPr lang="en-ID" dirty="0">
                <a:latin typeface="+mn-lt"/>
              </a:rPr>
              <a:t> salah </a:t>
            </a:r>
            <a:r>
              <a:rPr lang="en-ID" dirty="0" err="1">
                <a:latin typeface="+mn-lt"/>
              </a:rPr>
              <a:t>satu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penyebab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gangguan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lambung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seperti</a:t>
            </a:r>
            <a:r>
              <a:rPr lang="en-ID" dirty="0">
                <a:latin typeface="+mn-lt"/>
              </a:rPr>
              <a:t> dyspepsia, GERD, </a:t>
            </a:r>
            <a:r>
              <a:rPr lang="en-ID" dirty="0" err="1">
                <a:latin typeface="+mn-lt"/>
              </a:rPr>
              <a:t>tukak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lambung</a:t>
            </a:r>
            <a:r>
              <a:rPr lang="en-ID" dirty="0">
                <a:latin typeface="+mn-lt"/>
              </a:rPr>
              <a:t>, gastroparesis, dan </a:t>
            </a:r>
            <a:r>
              <a:rPr lang="en-ID" dirty="0" err="1">
                <a:latin typeface="+mn-lt"/>
              </a:rPr>
              <a:t>kanker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lambung</a:t>
            </a:r>
            <a:r>
              <a:rPr lang="en-ID" dirty="0">
                <a:latin typeface="+mn-lt"/>
              </a:rPr>
              <a:t>. </a:t>
            </a:r>
            <a:r>
              <a:rPr lang="en-ID" dirty="0" err="1">
                <a:latin typeface="+mn-lt"/>
              </a:rPr>
              <a:t>Penyakit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ini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bisa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disebabkan</a:t>
            </a:r>
            <a:r>
              <a:rPr lang="en-ID" dirty="0">
                <a:latin typeface="+mn-lt"/>
              </a:rPr>
              <a:t> oleh </a:t>
            </a:r>
            <a:r>
              <a:rPr lang="en-ID" dirty="0" err="1">
                <a:latin typeface="+mn-lt"/>
              </a:rPr>
              <a:t>bakteri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atau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iritasi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akibat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peningkatan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asam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lambung</a:t>
            </a:r>
            <a:r>
              <a:rPr lang="en-ID" dirty="0">
                <a:latin typeface="+mn-lt"/>
              </a:rPr>
              <a:t>.</a:t>
            </a:r>
          </a:p>
        </p:txBody>
      </p:sp>
      <p:cxnSp>
        <p:nvCxnSpPr>
          <p:cNvPr id="927" name="Google Shape;927;p32"/>
          <p:cNvCxnSpPr>
            <a:cxnSpLocks/>
          </p:cNvCxnSpPr>
          <p:nvPr/>
        </p:nvCxnSpPr>
        <p:spPr>
          <a:xfrm>
            <a:off x="2714496" y="914249"/>
            <a:ext cx="3729335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049801870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32"/>
          <p:cNvSpPr txBox="1">
            <a:spLocks noGrp="1"/>
          </p:cNvSpPr>
          <p:nvPr>
            <p:ph type="title"/>
          </p:nvPr>
        </p:nvSpPr>
        <p:spPr>
          <a:xfrm>
            <a:off x="2560350" y="122059"/>
            <a:ext cx="4023300" cy="8822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LATAR BELAKANG</a:t>
            </a:r>
            <a:endParaRPr dirty="0"/>
          </a:p>
        </p:txBody>
      </p:sp>
      <p:sp>
        <p:nvSpPr>
          <p:cNvPr id="926" name="Google Shape;926;p32"/>
          <p:cNvSpPr txBox="1">
            <a:spLocks noGrp="1"/>
          </p:cNvSpPr>
          <p:nvPr>
            <p:ph type="subTitle" idx="1"/>
          </p:nvPr>
        </p:nvSpPr>
        <p:spPr>
          <a:xfrm>
            <a:off x="348615" y="968039"/>
            <a:ext cx="8446770" cy="28187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lnSpc>
                <a:spcPct val="150000"/>
              </a:lnSpc>
            </a:pPr>
            <a:endParaRPr lang="en-ID" dirty="0">
              <a:latin typeface="+mn-lt"/>
            </a:endParaRPr>
          </a:p>
          <a:p>
            <a:pPr marL="0" indent="0" algn="just">
              <a:lnSpc>
                <a:spcPct val="150000"/>
              </a:lnSpc>
            </a:pPr>
            <a:r>
              <a:rPr lang="en-ID" dirty="0">
                <a:latin typeface="+mn-lt"/>
              </a:rPr>
              <a:t>Kesehatan </a:t>
            </a:r>
            <a:r>
              <a:rPr lang="en-ID" dirty="0" err="1">
                <a:latin typeface="+mn-lt"/>
              </a:rPr>
              <a:t>lambung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merupakan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kebutuhan</a:t>
            </a:r>
            <a:r>
              <a:rPr lang="en-ID" dirty="0">
                <a:latin typeface="+mn-lt"/>
              </a:rPr>
              <a:t> primer </a:t>
            </a:r>
            <a:r>
              <a:rPr lang="en-ID" dirty="0" err="1">
                <a:latin typeface="+mn-lt"/>
              </a:rPr>
              <a:t>bagi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manusia</a:t>
            </a:r>
            <a:r>
              <a:rPr lang="en-ID" dirty="0">
                <a:latin typeface="+mn-lt"/>
              </a:rPr>
              <a:t>, </a:t>
            </a:r>
            <a:r>
              <a:rPr lang="en-ID" dirty="0" err="1">
                <a:latin typeface="+mn-lt"/>
              </a:rPr>
              <a:t>namun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seringkali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diabaikan</a:t>
            </a:r>
            <a:r>
              <a:rPr lang="en-ID" dirty="0">
                <a:latin typeface="+mn-lt"/>
              </a:rPr>
              <a:t>. Banyak orang </a:t>
            </a:r>
            <a:r>
              <a:rPr lang="en-ID" dirty="0" err="1">
                <a:latin typeface="+mn-lt"/>
              </a:rPr>
              <a:t>sadar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ketika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mengalami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gangguan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kesehatan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lambung</a:t>
            </a:r>
            <a:r>
              <a:rPr lang="en-ID" dirty="0">
                <a:latin typeface="+mn-lt"/>
              </a:rPr>
              <a:t>, Oleh </a:t>
            </a:r>
            <a:r>
              <a:rPr lang="en-ID" dirty="0" err="1">
                <a:latin typeface="+mn-lt"/>
              </a:rPr>
              <a:t>karena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itu</a:t>
            </a:r>
            <a:r>
              <a:rPr lang="en-ID" dirty="0">
                <a:latin typeface="+mn-lt"/>
              </a:rPr>
              <a:t>, </a:t>
            </a:r>
            <a:r>
              <a:rPr lang="en-ID" dirty="0" err="1">
                <a:latin typeface="+mn-lt"/>
              </a:rPr>
              <a:t>penelitian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ini</a:t>
            </a:r>
            <a:r>
              <a:rPr lang="en-ID" dirty="0">
                <a:latin typeface="+mn-lt"/>
              </a:rPr>
              <a:t> </a:t>
            </a:r>
          </a:p>
          <a:p>
            <a:pPr marL="0" indent="0" algn="just">
              <a:lnSpc>
                <a:spcPct val="150000"/>
              </a:lnSpc>
            </a:pPr>
            <a:r>
              <a:rPr lang="en-ID" dirty="0" err="1">
                <a:latin typeface="+mn-lt"/>
              </a:rPr>
              <a:t>bertujuan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untuk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membuat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sistem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pakar</a:t>
            </a:r>
            <a:r>
              <a:rPr lang="en-ID" dirty="0">
                <a:latin typeface="+mn-lt"/>
              </a:rPr>
              <a:t> yang </a:t>
            </a:r>
            <a:r>
              <a:rPr lang="en-ID" dirty="0" err="1">
                <a:latin typeface="+mn-lt"/>
              </a:rPr>
              <a:t>memudahkan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masyarakat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dalam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mendiagnosa</a:t>
            </a:r>
            <a:r>
              <a:rPr lang="en-ID" dirty="0">
                <a:latin typeface="+mn-lt"/>
              </a:rPr>
              <a:t> </a:t>
            </a:r>
          </a:p>
          <a:p>
            <a:pPr marL="0" indent="0" algn="just">
              <a:lnSpc>
                <a:spcPct val="150000"/>
              </a:lnSpc>
            </a:pPr>
            <a:r>
              <a:rPr lang="en-ID" dirty="0" err="1">
                <a:latin typeface="+mn-lt"/>
              </a:rPr>
              <a:t>dini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penyakit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lambung</a:t>
            </a:r>
            <a:r>
              <a:rPr lang="en-ID" dirty="0">
                <a:latin typeface="+mn-lt"/>
              </a:rPr>
              <a:t>. </a:t>
            </a:r>
            <a:endParaRPr lang="en-US" dirty="0">
              <a:latin typeface="+mn-lt"/>
            </a:endParaRPr>
          </a:p>
          <a:p>
            <a:pPr marL="0" indent="0" algn="just">
              <a:lnSpc>
                <a:spcPct val="150000"/>
              </a:lnSpc>
            </a:pPr>
            <a:endParaRPr lang="en-ID" dirty="0">
              <a:latin typeface="+mn-lt"/>
            </a:endParaRPr>
          </a:p>
        </p:txBody>
      </p:sp>
      <p:cxnSp>
        <p:nvCxnSpPr>
          <p:cNvPr id="927" name="Google Shape;927;p32"/>
          <p:cNvCxnSpPr>
            <a:cxnSpLocks/>
          </p:cNvCxnSpPr>
          <p:nvPr/>
        </p:nvCxnSpPr>
        <p:spPr>
          <a:xfrm>
            <a:off x="2714496" y="914249"/>
            <a:ext cx="3729335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05194529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32"/>
          <p:cNvSpPr txBox="1">
            <a:spLocks noGrp="1"/>
          </p:cNvSpPr>
          <p:nvPr>
            <p:ph type="title"/>
          </p:nvPr>
        </p:nvSpPr>
        <p:spPr>
          <a:xfrm>
            <a:off x="1815997" y="218881"/>
            <a:ext cx="5165715" cy="8822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IDENTIFIKASI MASALAH</a:t>
            </a:r>
            <a:endParaRPr dirty="0"/>
          </a:p>
        </p:txBody>
      </p:sp>
      <p:sp>
        <p:nvSpPr>
          <p:cNvPr id="926" name="Google Shape;926;p32"/>
          <p:cNvSpPr txBox="1">
            <a:spLocks noGrp="1"/>
          </p:cNvSpPr>
          <p:nvPr>
            <p:ph type="subTitle" idx="1"/>
          </p:nvPr>
        </p:nvSpPr>
        <p:spPr>
          <a:xfrm>
            <a:off x="348615" y="1406653"/>
            <a:ext cx="8446770" cy="28187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D" sz="1600" dirty="0" err="1">
                <a:latin typeface="+mn-lt"/>
              </a:rPr>
              <a:t>Kurangnya</a:t>
            </a:r>
            <a:r>
              <a:rPr lang="en-ID" sz="1600" dirty="0">
                <a:latin typeface="+mn-lt"/>
              </a:rPr>
              <a:t> </a:t>
            </a:r>
            <a:r>
              <a:rPr lang="en-ID" sz="1600" dirty="0" err="1">
                <a:latin typeface="+mn-lt"/>
              </a:rPr>
              <a:t>kesadaran</a:t>
            </a:r>
            <a:r>
              <a:rPr lang="en-ID" sz="1600" dirty="0">
                <a:latin typeface="+mn-lt"/>
              </a:rPr>
              <a:t> </a:t>
            </a:r>
            <a:r>
              <a:rPr lang="en-ID" sz="1600" dirty="0" err="1">
                <a:latin typeface="+mn-lt"/>
              </a:rPr>
              <a:t>masyarakat</a:t>
            </a:r>
            <a:r>
              <a:rPr lang="en-ID" sz="1600" dirty="0">
                <a:latin typeface="+mn-lt"/>
              </a:rPr>
              <a:t> </a:t>
            </a:r>
            <a:r>
              <a:rPr lang="en-ID" sz="1600" dirty="0" err="1">
                <a:latin typeface="+mn-lt"/>
              </a:rPr>
              <a:t>terhadap</a:t>
            </a:r>
            <a:r>
              <a:rPr lang="en-ID" sz="1600" dirty="0">
                <a:latin typeface="+mn-lt"/>
              </a:rPr>
              <a:t> </a:t>
            </a:r>
            <a:r>
              <a:rPr lang="en-ID" sz="1600" dirty="0" err="1">
                <a:latin typeface="+mn-lt"/>
              </a:rPr>
              <a:t>penyakit</a:t>
            </a:r>
            <a:r>
              <a:rPr lang="en-ID" sz="1600" dirty="0">
                <a:latin typeface="+mn-lt"/>
              </a:rPr>
              <a:t> </a:t>
            </a:r>
            <a:r>
              <a:rPr lang="en-ID" sz="1600" dirty="0" err="1">
                <a:latin typeface="+mn-lt"/>
              </a:rPr>
              <a:t>lambung</a:t>
            </a:r>
            <a:r>
              <a:rPr lang="en-ID" sz="1600" dirty="0">
                <a:latin typeface="+mn-lt"/>
              </a:rPr>
              <a:t>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endParaRPr lang="en-ID" sz="1600" dirty="0">
              <a:latin typeface="+mn-lt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D" sz="1600" dirty="0" err="1">
                <a:latin typeface="+mn-lt"/>
              </a:rPr>
              <a:t>Tidak</a:t>
            </a:r>
            <a:r>
              <a:rPr lang="en-ID" sz="1600" dirty="0">
                <a:latin typeface="+mn-lt"/>
              </a:rPr>
              <a:t> </a:t>
            </a:r>
            <a:r>
              <a:rPr lang="en-ID" sz="1600" dirty="0" err="1">
                <a:latin typeface="+mn-lt"/>
              </a:rPr>
              <a:t>mengetahui</a:t>
            </a:r>
            <a:r>
              <a:rPr lang="en-ID" sz="1600" dirty="0">
                <a:latin typeface="+mn-lt"/>
              </a:rPr>
              <a:t> </a:t>
            </a:r>
            <a:r>
              <a:rPr lang="en-ID" sz="1600" dirty="0" err="1">
                <a:latin typeface="+mn-lt"/>
              </a:rPr>
              <a:t>faktor-faktor</a:t>
            </a:r>
            <a:r>
              <a:rPr lang="en-ID" sz="1600" dirty="0">
                <a:latin typeface="+mn-lt"/>
              </a:rPr>
              <a:t> yang </a:t>
            </a:r>
            <a:r>
              <a:rPr lang="en-ID" sz="1600" dirty="0" err="1">
                <a:latin typeface="+mn-lt"/>
              </a:rPr>
              <a:t>dapat</a:t>
            </a:r>
            <a:r>
              <a:rPr lang="en-ID" sz="1600" dirty="0">
                <a:latin typeface="+mn-lt"/>
              </a:rPr>
              <a:t> </a:t>
            </a:r>
            <a:r>
              <a:rPr lang="en-ID" sz="1600" dirty="0" err="1">
                <a:latin typeface="+mn-lt"/>
              </a:rPr>
              <a:t>memicu</a:t>
            </a:r>
            <a:r>
              <a:rPr lang="en-ID" sz="1600" dirty="0">
                <a:latin typeface="+mn-lt"/>
              </a:rPr>
              <a:t> </a:t>
            </a:r>
            <a:r>
              <a:rPr lang="en-ID" sz="1600" dirty="0" err="1">
                <a:latin typeface="+mn-lt"/>
              </a:rPr>
              <a:t>penyakit</a:t>
            </a:r>
            <a:r>
              <a:rPr lang="en-ID" sz="1600" dirty="0">
                <a:latin typeface="+mn-lt"/>
              </a:rPr>
              <a:t> </a:t>
            </a:r>
            <a:r>
              <a:rPr lang="en-ID" sz="1600" dirty="0" err="1">
                <a:latin typeface="+mn-lt"/>
              </a:rPr>
              <a:t>lambung</a:t>
            </a:r>
            <a:r>
              <a:rPr lang="en-ID" sz="1600" dirty="0">
                <a:latin typeface="+mn-lt"/>
              </a:rPr>
              <a:t>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endParaRPr lang="en-ID" sz="1600" dirty="0">
              <a:latin typeface="+mn-lt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D" sz="1600" dirty="0" err="1">
                <a:latin typeface="+mn-lt"/>
              </a:rPr>
              <a:t>Mendeteksi</a:t>
            </a:r>
            <a:r>
              <a:rPr lang="en-ID" sz="1600" dirty="0">
                <a:latin typeface="+mn-lt"/>
              </a:rPr>
              <a:t> </a:t>
            </a:r>
            <a:r>
              <a:rPr lang="en-ID" sz="1600" dirty="0" err="1">
                <a:latin typeface="+mn-lt"/>
              </a:rPr>
              <a:t>gejala</a:t>
            </a:r>
            <a:r>
              <a:rPr lang="en-ID" sz="1600" dirty="0">
                <a:latin typeface="+mn-lt"/>
              </a:rPr>
              <a:t> GERD </a:t>
            </a:r>
            <a:r>
              <a:rPr lang="en-ID" sz="1600" dirty="0" err="1">
                <a:latin typeface="+mn-lt"/>
              </a:rPr>
              <a:t>menggunakan</a:t>
            </a:r>
            <a:r>
              <a:rPr lang="en-ID" sz="1600" dirty="0">
                <a:latin typeface="+mn-lt"/>
              </a:rPr>
              <a:t> platform website yang </a:t>
            </a:r>
            <a:r>
              <a:rPr lang="en-ID" sz="1600" dirty="0" err="1">
                <a:latin typeface="+mn-lt"/>
              </a:rPr>
              <a:t>menggunakan</a:t>
            </a:r>
            <a:r>
              <a:rPr lang="en-ID" sz="1600" dirty="0">
                <a:latin typeface="+mn-lt"/>
              </a:rPr>
              <a:t> </a:t>
            </a:r>
            <a:r>
              <a:rPr lang="en-ID" sz="1600" dirty="0" err="1">
                <a:latin typeface="+mn-lt"/>
              </a:rPr>
              <a:t>metode</a:t>
            </a:r>
            <a:r>
              <a:rPr lang="en-ID" sz="1600" dirty="0">
                <a:latin typeface="+mn-lt"/>
              </a:rPr>
              <a:t> case based reasoning(CBR) </a:t>
            </a:r>
            <a:endParaRPr lang="en-US" sz="1200" dirty="0">
              <a:latin typeface="+mn-lt"/>
            </a:endParaRPr>
          </a:p>
        </p:txBody>
      </p:sp>
      <p:cxnSp>
        <p:nvCxnSpPr>
          <p:cNvPr id="927" name="Google Shape;927;p32"/>
          <p:cNvCxnSpPr>
            <a:cxnSpLocks/>
          </p:cNvCxnSpPr>
          <p:nvPr/>
        </p:nvCxnSpPr>
        <p:spPr>
          <a:xfrm>
            <a:off x="1970144" y="1011071"/>
            <a:ext cx="4850205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170294810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32"/>
          <p:cNvSpPr txBox="1">
            <a:spLocks noGrp="1"/>
          </p:cNvSpPr>
          <p:nvPr>
            <p:ph type="title"/>
          </p:nvPr>
        </p:nvSpPr>
        <p:spPr>
          <a:xfrm>
            <a:off x="2063423" y="197330"/>
            <a:ext cx="4434196" cy="8822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RUMUSAN MASALAH</a:t>
            </a:r>
            <a:endParaRPr dirty="0"/>
          </a:p>
        </p:txBody>
      </p:sp>
      <p:sp>
        <p:nvSpPr>
          <p:cNvPr id="926" name="Google Shape;926;p32"/>
          <p:cNvSpPr txBox="1">
            <a:spLocks noGrp="1"/>
          </p:cNvSpPr>
          <p:nvPr>
            <p:ph type="subTitle" idx="1"/>
          </p:nvPr>
        </p:nvSpPr>
        <p:spPr>
          <a:xfrm>
            <a:off x="361950" y="1277559"/>
            <a:ext cx="8446770" cy="28187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lnSpc>
                <a:spcPct val="150000"/>
              </a:lnSpc>
            </a:pPr>
            <a:r>
              <a:rPr lang="en-ID" dirty="0" err="1">
                <a:latin typeface="+mj-lt"/>
              </a:rPr>
              <a:t>Bagaimana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meningkatkan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kesadaran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masyarakat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terhadap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penyakit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lambung</a:t>
            </a:r>
            <a:r>
              <a:rPr lang="en-ID" dirty="0">
                <a:latin typeface="+mj-lt"/>
              </a:rPr>
              <a:t>? </a:t>
            </a:r>
          </a:p>
          <a:p>
            <a:pPr marL="0" lvl="0" indent="0" algn="just">
              <a:lnSpc>
                <a:spcPct val="150000"/>
              </a:lnSpc>
            </a:pPr>
            <a:endParaRPr lang="en-ID" dirty="0">
              <a:latin typeface="+mj-lt"/>
            </a:endParaRPr>
          </a:p>
          <a:p>
            <a:pPr marL="0" lvl="0" indent="0" algn="just">
              <a:lnSpc>
                <a:spcPct val="150000"/>
              </a:lnSpc>
            </a:pPr>
            <a:r>
              <a:rPr lang="en-ID" dirty="0" err="1">
                <a:latin typeface="+mj-lt"/>
              </a:rPr>
              <a:t>Apa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saja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faktor-faktor</a:t>
            </a:r>
            <a:r>
              <a:rPr lang="en-ID" dirty="0">
                <a:latin typeface="+mj-lt"/>
              </a:rPr>
              <a:t> yang </a:t>
            </a:r>
            <a:r>
              <a:rPr lang="en-ID" dirty="0" err="1">
                <a:latin typeface="+mj-lt"/>
              </a:rPr>
              <a:t>dapat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memicu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penyakit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lambung</a:t>
            </a:r>
            <a:r>
              <a:rPr lang="en-ID" dirty="0">
                <a:latin typeface="+mj-lt"/>
              </a:rPr>
              <a:t> dan </a:t>
            </a:r>
            <a:r>
              <a:rPr lang="en-ID" dirty="0" err="1">
                <a:latin typeface="+mj-lt"/>
              </a:rPr>
              <a:t>bagaimana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cara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meningkatkan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pengetahuan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masyarakat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tentang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faktor-faktor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tersebut</a:t>
            </a:r>
            <a:r>
              <a:rPr lang="en-ID" dirty="0">
                <a:latin typeface="+mj-lt"/>
              </a:rPr>
              <a:t>? </a:t>
            </a:r>
          </a:p>
          <a:p>
            <a:pPr marL="0" lvl="0" indent="0" algn="just">
              <a:lnSpc>
                <a:spcPct val="150000"/>
              </a:lnSpc>
            </a:pPr>
            <a:endParaRPr lang="en-ID" dirty="0">
              <a:latin typeface="+mj-lt"/>
            </a:endParaRPr>
          </a:p>
          <a:p>
            <a:pPr marL="0" lvl="0" indent="0" algn="just">
              <a:lnSpc>
                <a:spcPct val="150000"/>
              </a:lnSpc>
            </a:pPr>
            <a:r>
              <a:rPr lang="en-ID" dirty="0" err="1">
                <a:latin typeface="+mj-lt"/>
              </a:rPr>
              <a:t>Bagaimana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merancang</a:t>
            </a:r>
            <a:r>
              <a:rPr lang="en-ID" dirty="0">
                <a:latin typeface="+mj-lt"/>
              </a:rPr>
              <a:t> dan </a:t>
            </a:r>
            <a:r>
              <a:rPr lang="en-ID" dirty="0" err="1">
                <a:latin typeface="+mj-lt"/>
              </a:rPr>
              <a:t>mengembangkan</a:t>
            </a:r>
            <a:r>
              <a:rPr lang="en-ID" dirty="0">
                <a:latin typeface="+mj-lt"/>
              </a:rPr>
              <a:t> platform/website </a:t>
            </a:r>
            <a:r>
              <a:rPr lang="en-ID" dirty="0" err="1">
                <a:latin typeface="+mj-lt"/>
              </a:rPr>
              <a:t>untuk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mendeteksi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gejala</a:t>
            </a:r>
            <a:r>
              <a:rPr lang="en-ID" dirty="0">
                <a:latin typeface="+mj-lt"/>
              </a:rPr>
              <a:t> GERD </a:t>
            </a:r>
            <a:r>
              <a:rPr lang="en-ID" dirty="0" err="1">
                <a:latin typeface="+mj-lt"/>
              </a:rPr>
              <a:t>menggunakan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metode</a:t>
            </a:r>
            <a:r>
              <a:rPr lang="en-ID" dirty="0">
                <a:latin typeface="+mj-lt"/>
              </a:rPr>
              <a:t> Case Based Reasoning (CBR) yang </a:t>
            </a:r>
            <a:r>
              <a:rPr lang="en-ID" dirty="0" err="1">
                <a:latin typeface="+mj-lt"/>
              </a:rPr>
              <a:t>mudah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diakses</a:t>
            </a:r>
            <a:r>
              <a:rPr lang="en-ID" dirty="0">
                <a:latin typeface="+mj-lt"/>
              </a:rPr>
              <a:t> dan </a:t>
            </a:r>
            <a:r>
              <a:rPr lang="en-ID" dirty="0" err="1">
                <a:latin typeface="+mj-lt"/>
              </a:rPr>
              <a:t>digunakan</a:t>
            </a:r>
            <a:r>
              <a:rPr lang="en-ID" dirty="0">
                <a:latin typeface="+mj-lt"/>
              </a:rPr>
              <a:t> oleh </a:t>
            </a:r>
            <a:r>
              <a:rPr lang="en-ID" dirty="0" err="1">
                <a:latin typeface="+mj-lt"/>
              </a:rPr>
              <a:t>masyarakat</a:t>
            </a:r>
            <a:r>
              <a:rPr lang="en-ID" dirty="0">
                <a:latin typeface="+mj-lt"/>
              </a:rPr>
              <a:t>?</a:t>
            </a:r>
            <a:endParaRPr lang="id-ID" kern="100" dirty="0">
              <a:effectLst/>
              <a:latin typeface="+mj-lt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  <p:cxnSp>
        <p:nvCxnSpPr>
          <p:cNvPr id="927" name="Google Shape;927;p32"/>
          <p:cNvCxnSpPr>
            <a:cxnSpLocks/>
          </p:cNvCxnSpPr>
          <p:nvPr/>
        </p:nvCxnSpPr>
        <p:spPr>
          <a:xfrm>
            <a:off x="2217569" y="989520"/>
            <a:ext cx="4140200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22657285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32"/>
          <p:cNvSpPr txBox="1">
            <a:spLocks noGrp="1"/>
          </p:cNvSpPr>
          <p:nvPr>
            <p:ph type="title"/>
          </p:nvPr>
        </p:nvSpPr>
        <p:spPr>
          <a:xfrm>
            <a:off x="1837512" y="204401"/>
            <a:ext cx="4993593" cy="8822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BATASAN PENELITIAN</a:t>
            </a:r>
            <a:endParaRPr dirty="0"/>
          </a:p>
        </p:txBody>
      </p:sp>
      <p:sp>
        <p:nvSpPr>
          <p:cNvPr id="926" name="Google Shape;926;p32"/>
          <p:cNvSpPr txBox="1">
            <a:spLocks noGrp="1"/>
          </p:cNvSpPr>
          <p:nvPr>
            <p:ph type="subTitle" idx="1"/>
          </p:nvPr>
        </p:nvSpPr>
        <p:spPr>
          <a:xfrm>
            <a:off x="361950" y="1169979"/>
            <a:ext cx="8446770" cy="28187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D" sz="1600" dirty="0" err="1">
                <a:latin typeface="+mj-lt"/>
              </a:rPr>
              <a:t>Penelitian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ini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hanya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berfokus</a:t>
            </a:r>
            <a:r>
              <a:rPr lang="en-ID" sz="1600" dirty="0">
                <a:latin typeface="+mj-lt"/>
              </a:rPr>
              <a:t> pada </a:t>
            </a:r>
            <a:r>
              <a:rPr lang="en-ID" sz="1600" dirty="0" err="1">
                <a:latin typeface="+mj-lt"/>
              </a:rPr>
              <a:t>penyakit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lambung</a:t>
            </a:r>
            <a:r>
              <a:rPr lang="en-ID" sz="1600" dirty="0">
                <a:latin typeface="+mj-lt"/>
              </a:rPr>
              <a:t> Gastroesophageal Reflux Disease (GERD). </a:t>
            </a:r>
            <a:r>
              <a:rPr lang="en-ID" sz="1600" dirty="0" err="1">
                <a:latin typeface="+mj-lt"/>
              </a:rPr>
              <a:t>Penyakit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lambung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lainnya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seperti</a:t>
            </a:r>
            <a:r>
              <a:rPr lang="en-ID" sz="1600" dirty="0">
                <a:latin typeface="+mj-lt"/>
              </a:rPr>
              <a:t> dyspepsia, </a:t>
            </a:r>
            <a:r>
              <a:rPr lang="en-ID" sz="1600" dirty="0" err="1">
                <a:latin typeface="+mj-lt"/>
              </a:rPr>
              <a:t>tukak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lambung</a:t>
            </a:r>
            <a:r>
              <a:rPr lang="en-ID" sz="1600" dirty="0">
                <a:latin typeface="+mj-lt"/>
              </a:rPr>
              <a:t>, gastroparesis, dan </a:t>
            </a:r>
            <a:r>
              <a:rPr lang="en-ID" sz="1600" dirty="0" err="1">
                <a:latin typeface="+mj-lt"/>
              </a:rPr>
              <a:t>kanker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lambung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tidak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dibahas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dalam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penelitian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ini</a:t>
            </a:r>
            <a:r>
              <a:rPr lang="en-ID" sz="1600" dirty="0">
                <a:latin typeface="+mj-lt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endParaRPr lang="en-ID" sz="1600" dirty="0">
              <a:latin typeface="+mj-lt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D" sz="1600" dirty="0" err="1">
                <a:latin typeface="+mj-lt"/>
              </a:rPr>
              <a:t>Metode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pengembangan</a:t>
            </a:r>
            <a:r>
              <a:rPr lang="en-ID" sz="1600" dirty="0">
                <a:latin typeface="+mj-lt"/>
              </a:rPr>
              <a:t> yang </a:t>
            </a:r>
            <a:r>
              <a:rPr lang="en-ID" sz="1600" dirty="0" err="1">
                <a:latin typeface="+mj-lt"/>
              </a:rPr>
              <a:t>akan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digunakan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dalam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penelitian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ini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akan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berlandaskan</a:t>
            </a:r>
            <a:r>
              <a:rPr lang="en-ID" sz="1600" dirty="0">
                <a:latin typeface="+mj-lt"/>
              </a:rPr>
              <a:t> pada </a:t>
            </a:r>
            <a:r>
              <a:rPr lang="en-ID" sz="1600" dirty="0" err="1">
                <a:latin typeface="+mj-lt"/>
              </a:rPr>
              <a:t>metode</a:t>
            </a:r>
            <a:r>
              <a:rPr lang="en-ID" sz="1600" dirty="0">
                <a:latin typeface="+mj-lt"/>
              </a:rPr>
              <a:t> Case Based Reasoning (CBR)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endParaRPr lang="en-ID" sz="1600" kern="100" dirty="0">
              <a:effectLst/>
              <a:latin typeface="+mj-lt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D" sz="1600" kern="100" dirty="0" err="1">
                <a:effectLst/>
                <a:latin typeface="+mj-lt"/>
                <a:ea typeface="Yu Mincho" panose="02020400000000000000" pitchFamily="18" charset="-128"/>
                <a:cs typeface="Times New Roman" panose="02020603050405020304" pitchFamily="18" charset="0"/>
              </a:rPr>
              <a:t>Aplikasi</a:t>
            </a:r>
            <a:r>
              <a:rPr lang="en-ID" sz="1600" kern="100" dirty="0">
                <a:effectLst/>
                <a:latin typeface="+mj-lt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ID" sz="1600" kern="100" dirty="0" err="1">
                <a:effectLst/>
                <a:latin typeface="+mj-lt"/>
                <a:ea typeface="Yu Mincho" panose="02020400000000000000" pitchFamily="18" charset="-128"/>
                <a:cs typeface="Times New Roman" panose="02020603050405020304" pitchFamily="18" charset="0"/>
              </a:rPr>
              <a:t>ini</a:t>
            </a:r>
            <a:r>
              <a:rPr lang="en-ID" sz="1600" kern="100" dirty="0">
                <a:effectLst/>
                <a:latin typeface="+mj-lt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ID" sz="1600" kern="100" dirty="0" err="1">
                <a:effectLst/>
                <a:latin typeface="+mj-lt"/>
                <a:ea typeface="Yu Mincho" panose="02020400000000000000" pitchFamily="18" charset="-128"/>
                <a:cs typeface="Times New Roman" panose="02020603050405020304" pitchFamily="18" charset="0"/>
              </a:rPr>
              <a:t>berbasis</a:t>
            </a:r>
            <a:r>
              <a:rPr lang="en-ID" sz="1600" kern="100" dirty="0">
                <a:effectLst/>
                <a:latin typeface="+mj-lt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ID" sz="1600" kern="100" dirty="0">
                <a:latin typeface="+mj-lt"/>
                <a:ea typeface="Yu Mincho" panose="02020400000000000000" pitchFamily="18" charset="-128"/>
                <a:cs typeface="Times New Roman" panose="02020603050405020304" pitchFamily="18" charset="0"/>
              </a:rPr>
              <a:t>Web dan </a:t>
            </a:r>
            <a:r>
              <a:rPr lang="en-ID" sz="1600" kern="100" dirty="0" err="1">
                <a:latin typeface="+mj-lt"/>
                <a:ea typeface="Yu Mincho" panose="02020400000000000000" pitchFamily="18" charset="-128"/>
                <a:cs typeface="Times New Roman" panose="02020603050405020304" pitchFamily="18" charset="0"/>
              </a:rPr>
              <a:t>memerlukan</a:t>
            </a:r>
            <a:r>
              <a:rPr lang="en-ID" sz="1600" kern="100" dirty="0">
                <a:latin typeface="+mj-lt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ID" sz="1600" kern="100" dirty="0" err="1">
                <a:latin typeface="+mj-lt"/>
                <a:ea typeface="Yu Mincho" panose="02020400000000000000" pitchFamily="18" charset="-128"/>
                <a:cs typeface="Times New Roman" panose="02020603050405020304" pitchFamily="18" charset="0"/>
              </a:rPr>
              <a:t>koneksi</a:t>
            </a:r>
            <a:r>
              <a:rPr lang="en-ID" sz="1600" kern="100" dirty="0">
                <a:latin typeface="+mj-lt"/>
                <a:ea typeface="Yu Mincho" panose="02020400000000000000" pitchFamily="18" charset="-128"/>
                <a:cs typeface="Times New Roman" panose="02020603050405020304" pitchFamily="18" charset="0"/>
              </a:rPr>
              <a:t> internet</a:t>
            </a:r>
            <a:endParaRPr lang="id-ID" sz="1600" kern="100" dirty="0">
              <a:effectLst/>
              <a:latin typeface="+mj-lt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  <p:cxnSp>
        <p:nvCxnSpPr>
          <p:cNvPr id="927" name="Google Shape;927;p32"/>
          <p:cNvCxnSpPr>
            <a:cxnSpLocks/>
          </p:cNvCxnSpPr>
          <p:nvPr/>
        </p:nvCxnSpPr>
        <p:spPr>
          <a:xfrm>
            <a:off x="1991659" y="996591"/>
            <a:ext cx="4645809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805320937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32"/>
          <p:cNvSpPr txBox="1">
            <a:spLocks noGrp="1"/>
          </p:cNvSpPr>
          <p:nvPr>
            <p:ph type="title"/>
          </p:nvPr>
        </p:nvSpPr>
        <p:spPr>
          <a:xfrm>
            <a:off x="1837512" y="96821"/>
            <a:ext cx="4993593" cy="8822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TUJUAN PENELITIAN</a:t>
            </a:r>
            <a:endParaRPr dirty="0"/>
          </a:p>
        </p:txBody>
      </p:sp>
      <p:sp>
        <p:nvSpPr>
          <p:cNvPr id="926" name="Google Shape;926;p32"/>
          <p:cNvSpPr txBox="1">
            <a:spLocks noGrp="1"/>
          </p:cNvSpPr>
          <p:nvPr>
            <p:ph type="subTitle" idx="1"/>
          </p:nvPr>
        </p:nvSpPr>
        <p:spPr>
          <a:xfrm>
            <a:off x="361950" y="793454"/>
            <a:ext cx="8446770" cy="28187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D" sz="1600" dirty="0" err="1">
                <a:latin typeface="+mj-lt"/>
              </a:rPr>
              <a:t>Mengidentifikasi</a:t>
            </a:r>
            <a:r>
              <a:rPr lang="en-ID" sz="1600" dirty="0">
                <a:latin typeface="+mj-lt"/>
              </a:rPr>
              <a:t> strategi </a:t>
            </a:r>
            <a:r>
              <a:rPr lang="en-ID" sz="1600" dirty="0" err="1">
                <a:latin typeface="+mj-lt"/>
              </a:rPr>
              <a:t>efektif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untuk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meningkatkan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kesadaran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masyarakat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tentang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penyakit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lambung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melalui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edukasi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kesehatan</a:t>
            </a:r>
            <a:r>
              <a:rPr lang="en-ID" sz="1600" dirty="0">
                <a:latin typeface="+mj-lt"/>
              </a:rPr>
              <a:t> digital.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endParaRPr lang="en-ID" sz="1600" dirty="0">
              <a:latin typeface="+mj-lt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D" sz="1600" dirty="0" err="1">
                <a:latin typeface="+mj-lt"/>
              </a:rPr>
              <a:t>Menentukan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faktor-faktor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utama</a:t>
            </a:r>
            <a:r>
              <a:rPr lang="en-ID" sz="1600" dirty="0">
                <a:latin typeface="+mj-lt"/>
              </a:rPr>
              <a:t> yang </a:t>
            </a:r>
            <a:r>
              <a:rPr lang="en-ID" sz="1600" dirty="0" err="1">
                <a:latin typeface="+mj-lt"/>
              </a:rPr>
              <a:t>memicu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penyakit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lambung</a:t>
            </a:r>
            <a:r>
              <a:rPr lang="en-ID" sz="1600" dirty="0">
                <a:latin typeface="+mj-lt"/>
              </a:rPr>
              <a:t> dan </a:t>
            </a:r>
            <a:r>
              <a:rPr lang="en-ID" sz="1600" dirty="0" err="1">
                <a:latin typeface="+mj-lt"/>
              </a:rPr>
              <a:t>mengembangkan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metode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edukasi</a:t>
            </a:r>
            <a:r>
              <a:rPr lang="en-ID" sz="1600" dirty="0">
                <a:latin typeface="+mj-lt"/>
              </a:rPr>
              <a:t> yang </a:t>
            </a:r>
            <a:r>
              <a:rPr lang="en-ID" sz="1600" dirty="0" err="1">
                <a:latin typeface="+mj-lt"/>
              </a:rPr>
              <a:t>efektif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untuk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meningkatkan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pengetahuan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masyarakat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tentang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faktor-faktor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tersebut</a:t>
            </a:r>
            <a:r>
              <a:rPr lang="en-ID" sz="1600" dirty="0">
                <a:latin typeface="+mj-lt"/>
              </a:rPr>
              <a:t>..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endParaRPr lang="en-ID" sz="1600" dirty="0">
              <a:latin typeface="+mj-lt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D" sz="1600" dirty="0" err="1">
                <a:latin typeface="+mj-lt"/>
              </a:rPr>
              <a:t>Merancang</a:t>
            </a:r>
            <a:r>
              <a:rPr lang="en-ID" sz="1600" dirty="0">
                <a:latin typeface="+mj-lt"/>
              </a:rPr>
              <a:t> dan </a:t>
            </a:r>
            <a:r>
              <a:rPr lang="en-ID" sz="1600" dirty="0" err="1">
                <a:latin typeface="+mj-lt"/>
              </a:rPr>
              <a:t>mengembangkan</a:t>
            </a:r>
            <a:r>
              <a:rPr lang="en-ID" sz="1600" dirty="0">
                <a:latin typeface="+mj-lt"/>
              </a:rPr>
              <a:t> platform website </a:t>
            </a:r>
            <a:r>
              <a:rPr lang="en-ID" sz="1600" dirty="0" err="1">
                <a:latin typeface="+mj-lt"/>
              </a:rPr>
              <a:t>menggunakan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metode</a:t>
            </a:r>
            <a:r>
              <a:rPr lang="en-ID" sz="1600" dirty="0">
                <a:latin typeface="+mj-lt"/>
              </a:rPr>
              <a:t> CBR </a:t>
            </a:r>
            <a:r>
              <a:rPr lang="en-ID" sz="1600" dirty="0" err="1">
                <a:latin typeface="+mj-lt"/>
              </a:rPr>
              <a:t>untuk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mendeteksi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gejala</a:t>
            </a:r>
            <a:r>
              <a:rPr lang="en-ID" sz="1600" dirty="0">
                <a:latin typeface="+mj-lt"/>
              </a:rPr>
              <a:t> GERD, </a:t>
            </a:r>
            <a:r>
              <a:rPr lang="en-ID" sz="1600" dirty="0" err="1">
                <a:latin typeface="+mj-lt"/>
              </a:rPr>
              <a:t>serta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menguji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keakuratan</a:t>
            </a:r>
            <a:r>
              <a:rPr lang="en-ID" sz="1600" dirty="0">
                <a:latin typeface="+mj-lt"/>
              </a:rPr>
              <a:t> dan </a:t>
            </a:r>
            <a:r>
              <a:rPr lang="en-ID" sz="1600" dirty="0" err="1">
                <a:latin typeface="+mj-lt"/>
              </a:rPr>
              <a:t>kemudahan</a:t>
            </a:r>
            <a:r>
              <a:rPr lang="en-ID" sz="1600" dirty="0">
                <a:latin typeface="+mj-lt"/>
              </a:rPr>
              <a:t> </a:t>
            </a:r>
            <a:r>
              <a:rPr lang="en-ID" sz="1600" dirty="0" err="1">
                <a:latin typeface="+mj-lt"/>
              </a:rPr>
              <a:t>penggunaannya</a:t>
            </a:r>
            <a:r>
              <a:rPr lang="en-ID" sz="1600" dirty="0">
                <a:latin typeface="+mj-lt"/>
              </a:rPr>
              <a:t>.</a:t>
            </a:r>
            <a:endParaRPr lang="id-ID" sz="1600" kern="100" dirty="0">
              <a:effectLst/>
              <a:latin typeface="+mj-lt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  <p:cxnSp>
        <p:nvCxnSpPr>
          <p:cNvPr id="927" name="Google Shape;927;p32"/>
          <p:cNvCxnSpPr>
            <a:cxnSpLocks/>
          </p:cNvCxnSpPr>
          <p:nvPr/>
        </p:nvCxnSpPr>
        <p:spPr>
          <a:xfrm>
            <a:off x="1991659" y="889011"/>
            <a:ext cx="4645809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404394695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32"/>
          <p:cNvSpPr txBox="1">
            <a:spLocks noGrp="1"/>
          </p:cNvSpPr>
          <p:nvPr>
            <p:ph type="title"/>
          </p:nvPr>
        </p:nvSpPr>
        <p:spPr>
          <a:xfrm>
            <a:off x="1837512" y="-1"/>
            <a:ext cx="4993593" cy="8822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MANFAAT PENELITIAN</a:t>
            </a:r>
            <a:endParaRPr dirty="0"/>
          </a:p>
        </p:txBody>
      </p:sp>
      <p:sp>
        <p:nvSpPr>
          <p:cNvPr id="926" name="Google Shape;926;p32"/>
          <p:cNvSpPr txBox="1">
            <a:spLocks noGrp="1"/>
          </p:cNvSpPr>
          <p:nvPr>
            <p:ph type="subTitle" idx="1"/>
          </p:nvPr>
        </p:nvSpPr>
        <p:spPr>
          <a:xfrm>
            <a:off x="361950" y="793454"/>
            <a:ext cx="8446770" cy="28187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sv-SE" sz="1600" dirty="0">
                <a:solidFill>
                  <a:schemeClr val="bg1">
                    <a:lumMod val="10000"/>
                  </a:schemeClr>
                </a:solidFill>
                <a:latin typeface="+mj-lt"/>
              </a:rPr>
              <a:t>Meningkatkan kesadaran dan pengetahuan masyarakat tentang penyakit lambung, khususnya GERD</a:t>
            </a:r>
            <a:r>
              <a:rPr lang="en-US" sz="1600" dirty="0">
                <a:solidFill>
                  <a:schemeClr val="bg1">
                    <a:lumMod val="10000"/>
                  </a:schemeClr>
                </a:solidFill>
                <a:latin typeface="+mj-lt"/>
              </a:rPr>
              <a:t>. </a:t>
            </a:r>
            <a:r>
              <a:rPr lang="id-ID" sz="1600" b="0" i="0" dirty="0">
                <a:solidFill>
                  <a:schemeClr val="bg1">
                    <a:lumMod val="10000"/>
                  </a:schemeClr>
                </a:solidFill>
                <a:effectLst/>
                <a:latin typeface="+mj-lt"/>
              </a:rPr>
              <a:t>Selain itu, penelitian ini merupakan syarat untuk menyelesaikan program S1.</a:t>
            </a:r>
            <a:endParaRPr lang="en-US" sz="1600" b="0" i="0" dirty="0">
              <a:solidFill>
                <a:schemeClr val="bg1">
                  <a:lumMod val="10000"/>
                </a:schemeClr>
              </a:solidFill>
              <a:effectLst/>
              <a:latin typeface="+mj-lt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endParaRPr lang="en-US" sz="1600" b="0" i="0" dirty="0">
              <a:solidFill>
                <a:schemeClr val="bg1">
                  <a:lumMod val="10000"/>
                </a:schemeClr>
              </a:solidFill>
              <a:effectLst/>
              <a:latin typeface="+mj-lt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D" sz="1600" dirty="0" err="1">
                <a:solidFill>
                  <a:schemeClr val="bg1">
                    <a:lumMod val="10000"/>
                  </a:schemeClr>
                </a:solidFill>
                <a:latin typeface="+mj-lt"/>
              </a:rPr>
              <a:t>Memberikan</a:t>
            </a:r>
            <a:r>
              <a:rPr lang="en-ID" sz="1600" dirty="0">
                <a:solidFill>
                  <a:schemeClr val="bg1">
                    <a:lumMod val="10000"/>
                  </a:schemeClr>
                </a:solidFill>
                <a:latin typeface="+mj-lt"/>
              </a:rPr>
              <a:t> </a:t>
            </a:r>
            <a:r>
              <a:rPr lang="en-ID" sz="1600" dirty="0" err="1">
                <a:solidFill>
                  <a:schemeClr val="bg1">
                    <a:lumMod val="10000"/>
                  </a:schemeClr>
                </a:solidFill>
                <a:latin typeface="+mj-lt"/>
              </a:rPr>
              <a:t>akses</a:t>
            </a:r>
            <a:r>
              <a:rPr lang="en-ID" sz="1600" dirty="0">
                <a:solidFill>
                  <a:schemeClr val="bg1">
                    <a:lumMod val="10000"/>
                  </a:schemeClr>
                </a:solidFill>
                <a:latin typeface="+mj-lt"/>
              </a:rPr>
              <a:t> </a:t>
            </a:r>
            <a:r>
              <a:rPr lang="en-ID" sz="1600" dirty="0" err="1">
                <a:solidFill>
                  <a:schemeClr val="bg1">
                    <a:lumMod val="10000"/>
                  </a:schemeClr>
                </a:solidFill>
                <a:latin typeface="+mj-lt"/>
              </a:rPr>
              <a:t>mudah</a:t>
            </a:r>
            <a:r>
              <a:rPr lang="en-ID" sz="1600" dirty="0">
                <a:solidFill>
                  <a:schemeClr val="bg1">
                    <a:lumMod val="10000"/>
                  </a:schemeClr>
                </a:solidFill>
                <a:latin typeface="+mj-lt"/>
              </a:rPr>
              <a:t> dan </a:t>
            </a:r>
            <a:r>
              <a:rPr lang="en-ID" sz="1600" dirty="0" err="1">
                <a:solidFill>
                  <a:schemeClr val="bg1">
                    <a:lumMod val="10000"/>
                  </a:schemeClr>
                </a:solidFill>
                <a:latin typeface="+mj-lt"/>
              </a:rPr>
              <a:t>cepat</a:t>
            </a:r>
            <a:r>
              <a:rPr lang="en-ID" sz="1600" dirty="0">
                <a:solidFill>
                  <a:schemeClr val="bg1">
                    <a:lumMod val="10000"/>
                  </a:schemeClr>
                </a:solidFill>
                <a:latin typeface="+mj-lt"/>
              </a:rPr>
              <a:t> </a:t>
            </a:r>
            <a:r>
              <a:rPr lang="en-ID" sz="1600" dirty="0" err="1">
                <a:solidFill>
                  <a:schemeClr val="bg1">
                    <a:lumMod val="10000"/>
                  </a:schemeClr>
                </a:solidFill>
                <a:latin typeface="+mj-lt"/>
              </a:rPr>
              <a:t>bagi</a:t>
            </a:r>
            <a:r>
              <a:rPr lang="en-ID" sz="1600" dirty="0">
                <a:solidFill>
                  <a:schemeClr val="bg1">
                    <a:lumMod val="10000"/>
                  </a:schemeClr>
                </a:solidFill>
                <a:latin typeface="+mj-lt"/>
              </a:rPr>
              <a:t> </a:t>
            </a:r>
            <a:r>
              <a:rPr lang="en-ID" sz="1600" dirty="0" err="1">
                <a:solidFill>
                  <a:schemeClr val="bg1">
                    <a:lumMod val="10000"/>
                  </a:schemeClr>
                </a:solidFill>
                <a:latin typeface="+mj-lt"/>
              </a:rPr>
              <a:t>masyarakat</a:t>
            </a:r>
            <a:r>
              <a:rPr lang="en-ID" sz="1600" dirty="0">
                <a:solidFill>
                  <a:schemeClr val="bg1">
                    <a:lumMod val="10000"/>
                  </a:schemeClr>
                </a:solidFill>
                <a:latin typeface="+mj-lt"/>
              </a:rPr>
              <a:t> </a:t>
            </a:r>
            <a:r>
              <a:rPr lang="en-ID" sz="1600" dirty="0" err="1">
                <a:solidFill>
                  <a:schemeClr val="bg1">
                    <a:lumMod val="10000"/>
                  </a:schemeClr>
                </a:solidFill>
                <a:latin typeface="+mj-lt"/>
              </a:rPr>
              <a:t>untuk</a:t>
            </a:r>
            <a:r>
              <a:rPr lang="en-ID" sz="1600" dirty="0">
                <a:solidFill>
                  <a:schemeClr val="bg1">
                    <a:lumMod val="10000"/>
                  </a:schemeClr>
                </a:solidFill>
                <a:latin typeface="+mj-lt"/>
              </a:rPr>
              <a:t> </a:t>
            </a:r>
            <a:r>
              <a:rPr lang="en-ID" sz="1600" dirty="0" err="1">
                <a:solidFill>
                  <a:schemeClr val="bg1">
                    <a:lumMod val="10000"/>
                  </a:schemeClr>
                </a:solidFill>
                <a:latin typeface="+mj-lt"/>
              </a:rPr>
              <a:t>mendapatkan</a:t>
            </a:r>
            <a:r>
              <a:rPr lang="en-ID" sz="1600" dirty="0">
                <a:solidFill>
                  <a:schemeClr val="bg1">
                    <a:lumMod val="10000"/>
                  </a:schemeClr>
                </a:solidFill>
                <a:latin typeface="+mj-lt"/>
              </a:rPr>
              <a:t> </a:t>
            </a:r>
            <a:r>
              <a:rPr lang="en-ID" sz="1600" dirty="0" err="1">
                <a:solidFill>
                  <a:schemeClr val="bg1">
                    <a:lumMod val="10000"/>
                  </a:schemeClr>
                </a:solidFill>
                <a:latin typeface="+mj-lt"/>
              </a:rPr>
              <a:t>informasi</a:t>
            </a:r>
            <a:r>
              <a:rPr lang="en-ID" sz="1600" dirty="0">
                <a:solidFill>
                  <a:schemeClr val="bg1">
                    <a:lumMod val="10000"/>
                  </a:schemeClr>
                </a:solidFill>
                <a:latin typeface="+mj-lt"/>
              </a:rPr>
              <a:t> dan </a:t>
            </a:r>
            <a:r>
              <a:rPr lang="en-ID" sz="1600" dirty="0" err="1">
                <a:solidFill>
                  <a:schemeClr val="bg1">
                    <a:lumMod val="10000"/>
                  </a:schemeClr>
                </a:solidFill>
                <a:latin typeface="+mj-lt"/>
              </a:rPr>
              <a:t>mendeteksi</a:t>
            </a:r>
            <a:r>
              <a:rPr lang="en-ID" sz="1600" dirty="0">
                <a:solidFill>
                  <a:schemeClr val="bg1">
                    <a:lumMod val="10000"/>
                  </a:schemeClr>
                </a:solidFill>
                <a:latin typeface="+mj-lt"/>
              </a:rPr>
              <a:t> </a:t>
            </a:r>
            <a:r>
              <a:rPr lang="en-ID" sz="1600" dirty="0" err="1">
                <a:solidFill>
                  <a:schemeClr val="bg1">
                    <a:lumMod val="10000"/>
                  </a:schemeClr>
                </a:solidFill>
                <a:latin typeface="+mj-lt"/>
              </a:rPr>
              <a:t>gejala</a:t>
            </a:r>
            <a:r>
              <a:rPr lang="en-ID" sz="1600" dirty="0">
                <a:solidFill>
                  <a:schemeClr val="bg1">
                    <a:lumMod val="10000"/>
                  </a:schemeClr>
                </a:solidFill>
                <a:latin typeface="+mj-lt"/>
              </a:rPr>
              <a:t> GERD </a:t>
            </a:r>
            <a:r>
              <a:rPr lang="en-ID" sz="1600" dirty="0" err="1">
                <a:solidFill>
                  <a:schemeClr val="bg1">
                    <a:lumMod val="10000"/>
                  </a:schemeClr>
                </a:solidFill>
                <a:latin typeface="+mj-lt"/>
              </a:rPr>
              <a:t>melalui</a:t>
            </a:r>
            <a:r>
              <a:rPr lang="en-ID" sz="1600" dirty="0">
                <a:solidFill>
                  <a:schemeClr val="bg1">
                    <a:lumMod val="10000"/>
                  </a:schemeClr>
                </a:solidFill>
                <a:latin typeface="+mj-lt"/>
              </a:rPr>
              <a:t> platform </a:t>
            </a:r>
            <a:r>
              <a:rPr lang="en-ID" sz="1600" dirty="0" err="1">
                <a:solidFill>
                  <a:schemeClr val="bg1">
                    <a:lumMod val="10000"/>
                  </a:schemeClr>
                </a:solidFill>
                <a:latin typeface="+mj-lt"/>
              </a:rPr>
              <a:t>atau</a:t>
            </a:r>
            <a:r>
              <a:rPr lang="en-ID" sz="1600" dirty="0">
                <a:solidFill>
                  <a:schemeClr val="bg1">
                    <a:lumMod val="10000"/>
                  </a:schemeClr>
                </a:solidFill>
                <a:latin typeface="+mj-lt"/>
              </a:rPr>
              <a:t> website yang </a:t>
            </a:r>
            <a:r>
              <a:rPr lang="en-ID" sz="1600" dirty="0" err="1">
                <a:solidFill>
                  <a:schemeClr val="bg1">
                    <a:lumMod val="10000"/>
                  </a:schemeClr>
                </a:solidFill>
                <a:latin typeface="+mj-lt"/>
              </a:rPr>
              <a:t>dirancang</a:t>
            </a:r>
            <a:r>
              <a:rPr lang="en-ID" sz="1600" dirty="0">
                <a:solidFill>
                  <a:schemeClr val="bg1">
                    <a:lumMod val="10000"/>
                  </a:schemeClr>
                </a:solidFill>
                <a:latin typeface="+mj-lt"/>
              </a:rPr>
              <a:t>. </a:t>
            </a:r>
            <a:r>
              <a:rPr lang="id-ID" sz="1600" kern="100" dirty="0">
                <a:solidFill>
                  <a:schemeClr val="bg1">
                    <a:lumMod val="10000"/>
                  </a:schemeClr>
                </a:solidFill>
                <a:effectLst/>
                <a:latin typeface="+mj-lt"/>
                <a:ea typeface="Yu Mincho" panose="02020400000000000000" pitchFamily="18" charset="-128"/>
                <a:cs typeface="Times New Roman" panose="02020603050405020304" pitchFamily="18" charset="0"/>
              </a:rPr>
              <a:t>Selain itu, </a:t>
            </a:r>
            <a:r>
              <a:rPr lang="en-ID" sz="1600" dirty="0" err="1">
                <a:solidFill>
                  <a:schemeClr val="bg1">
                    <a:lumMod val="10000"/>
                  </a:schemeClr>
                </a:solidFill>
                <a:latin typeface="+mj-lt"/>
              </a:rPr>
              <a:t>Mendorong</a:t>
            </a:r>
            <a:r>
              <a:rPr lang="en-ID" sz="1600" dirty="0">
                <a:solidFill>
                  <a:schemeClr val="bg1">
                    <a:lumMod val="10000"/>
                  </a:schemeClr>
                </a:solidFill>
                <a:latin typeface="+mj-lt"/>
              </a:rPr>
              <a:t> </a:t>
            </a:r>
            <a:r>
              <a:rPr lang="en-ID" sz="1600" dirty="0" err="1">
                <a:solidFill>
                  <a:schemeClr val="bg1">
                    <a:lumMod val="10000"/>
                  </a:schemeClr>
                </a:solidFill>
                <a:latin typeface="+mj-lt"/>
              </a:rPr>
              <a:t>masyarakat</a:t>
            </a:r>
            <a:r>
              <a:rPr lang="en-ID" sz="1600" dirty="0">
                <a:solidFill>
                  <a:schemeClr val="bg1">
                    <a:lumMod val="10000"/>
                  </a:schemeClr>
                </a:solidFill>
                <a:latin typeface="+mj-lt"/>
              </a:rPr>
              <a:t> </a:t>
            </a:r>
            <a:r>
              <a:rPr lang="en-ID" sz="1600" dirty="0" err="1">
                <a:solidFill>
                  <a:schemeClr val="bg1">
                    <a:lumMod val="10000"/>
                  </a:schemeClr>
                </a:solidFill>
                <a:latin typeface="+mj-lt"/>
              </a:rPr>
              <a:t>untuk</a:t>
            </a:r>
            <a:r>
              <a:rPr lang="en-ID" sz="1600" dirty="0">
                <a:solidFill>
                  <a:schemeClr val="bg1">
                    <a:lumMod val="10000"/>
                  </a:schemeClr>
                </a:solidFill>
                <a:latin typeface="+mj-lt"/>
              </a:rPr>
              <a:t> </a:t>
            </a:r>
            <a:r>
              <a:rPr lang="en-ID" sz="1600" dirty="0" err="1">
                <a:solidFill>
                  <a:schemeClr val="bg1">
                    <a:lumMod val="10000"/>
                  </a:schemeClr>
                </a:solidFill>
                <a:latin typeface="+mj-lt"/>
              </a:rPr>
              <a:t>menerapkan</a:t>
            </a:r>
            <a:r>
              <a:rPr lang="en-ID" sz="1600" dirty="0">
                <a:solidFill>
                  <a:schemeClr val="bg1">
                    <a:lumMod val="10000"/>
                  </a:schemeClr>
                </a:solidFill>
                <a:latin typeface="+mj-lt"/>
              </a:rPr>
              <a:t> </a:t>
            </a:r>
            <a:r>
              <a:rPr lang="en-ID" sz="1600" dirty="0" err="1">
                <a:solidFill>
                  <a:schemeClr val="bg1">
                    <a:lumMod val="10000"/>
                  </a:schemeClr>
                </a:solidFill>
                <a:latin typeface="+mj-lt"/>
              </a:rPr>
              <a:t>gaya</a:t>
            </a:r>
            <a:r>
              <a:rPr lang="en-ID" sz="1600" dirty="0">
                <a:solidFill>
                  <a:schemeClr val="bg1">
                    <a:lumMod val="10000"/>
                  </a:schemeClr>
                </a:solidFill>
                <a:latin typeface="+mj-lt"/>
              </a:rPr>
              <a:t> </a:t>
            </a:r>
            <a:r>
              <a:rPr lang="en-ID" sz="1600" dirty="0" err="1">
                <a:solidFill>
                  <a:schemeClr val="bg1">
                    <a:lumMod val="10000"/>
                  </a:schemeClr>
                </a:solidFill>
                <a:latin typeface="+mj-lt"/>
              </a:rPr>
              <a:t>hidup</a:t>
            </a:r>
            <a:r>
              <a:rPr lang="en-ID" sz="1600" dirty="0">
                <a:solidFill>
                  <a:schemeClr val="bg1">
                    <a:lumMod val="10000"/>
                  </a:schemeClr>
                </a:solidFill>
                <a:latin typeface="+mj-lt"/>
              </a:rPr>
              <a:t> </a:t>
            </a:r>
            <a:r>
              <a:rPr lang="en-ID" sz="1600" dirty="0" err="1">
                <a:solidFill>
                  <a:schemeClr val="bg1">
                    <a:lumMod val="10000"/>
                  </a:schemeClr>
                </a:solidFill>
                <a:latin typeface="+mj-lt"/>
              </a:rPr>
              <a:t>sehat</a:t>
            </a:r>
            <a:r>
              <a:rPr lang="en-ID" sz="1600" dirty="0">
                <a:solidFill>
                  <a:schemeClr val="bg1">
                    <a:lumMod val="10000"/>
                  </a:schemeClr>
                </a:solidFill>
                <a:latin typeface="+mj-lt"/>
              </a:rPr>
              <a:t> dan </a:t>
            </a:r>
            <a:r>
              <a:rPr lang="en-ID" sz="1600" dirty="0" err="1">
                <a:solidFill>
                  <a:schemeClr val="bg1">
                    <a:lumMod val="10000"/>
                  </a:schemeClr>
                </a:solidFill>
                <a:latin typeface="+mj-lt"/>
              </a:rPr>
              <a:t>pola</a:t>
            </a:r>
            <a:r>
              <a:rPr lang="en-ID" sz="1600" dirty="0">
                <a:solidFill>
                  <a:schemeClr val="bg1">
                    <a:lumMod val="10000"/>
                  </a:schemeClr>
                </a:solidFill>
                <a:latin typeface="+mj-lt"/>
              </a:rPr>
              <a:t> </a:t>
            </a:r>
            <a:r>
              <a:rPr lang="en-ID" sz="1600" dirty="0" err="1">
                <a:solidFill>
                  <a:schemeClr val="bg1">
                    <a:lumMod val="10000"/>
                  </a:schemeClr>
                </a:solidFill>
                <a:latin typeface="+mj-lt"/>
              </a:rPr>
              <a:t>makan</a:t>
            </a:r>
            <a:r>
              <a:rPr lang="en-ID" sz="1600" dirty="0">
                <a:solidFill>
                  <a:schemeClr val="bg1">
                    <a:lumMod val="10000"/>
                  </a:schemeClr>
                </a:solidFill>
                <a:latin typeface="+mj-lt"/>
              </a:rPr>
              <a:t> </a:t>
            </a:r>
            <a:r>
              <a:rPr lang="en-ID" sz="1600" dirty="0" err="1">
                <a:solidFill>
                  <a:schemeClr val="bg1">
                    <a:lumMod val="10000"/>
                  </a:schemeClr>
                </a:solidFill>
                <a:latin typeface="+mj-lt"/>
              </a:rPr>
              <a:t>seimbang</a:t>
            </a:r>
            <a:r>
              <a:rPr lang="en-ID" sz="1600" dirty="0">
                <a:solidFill>
                  <a:schemeClr val="bg1">
                    <a:lumMod val="10000"/>
                  </a:schemeClr>
                </a:solidFill>
                <a:latin typeface="+mj-lt"/>
              </a:rPr>
              <a:t> </a:t>
            </a:r>
            <a:r>
              <a:rPr lang="en-ID" sz="1600" dirty="0" err="1">
                <a:solidFill>
                  <a:schemeClr val="bg1">
                    <a:lumMod val="10000"/>
                  </a:schemeClr>
                </a:solidFill>
                <a:latin typeface="+mj-lt"/>
              </a:rPr>
              <a:t>untuk</a:t>
            </a:r>
            <a:r>
              <a:rPr lang="en-ID" sz="1600" dirty="0">
                <a:solidFill>
                  <a:schemeClr val="bg1">
                    <a:lumMod val="10000"/>
                  </a:schemeClr>
                </a:solidFill>
                <a:latin typeface="+mj-lt"/>
              </a:rPr>
              <a:t> </a:t>
            </a:r>
            <a:r>
              <a:rPr lang="en-ID" sz="1600" dirty="0" err="1">
                <a:solidFill>
                  <a:schemeClr val="bg1">
                    <a:lumMod val="10000"/>
                  </a:schemeClr>
                </a:solidFill>
                <a:latin typeface="+mj-lt"/>
              </a:rPr>
              <a:t>mencegah</a:t>
            </a:r>
            <a:r>
              <a:rPr lang="en-ID" sz="1600" dirty="0">
                <a:solidFill>
                  <a:schemeClr val="bg1">
                    <a:lumMod val="10000"/>
                  </a:schemeClr>
                </a:solidFill>
                <a:latin typeface="+mj-lt"/>
              </a:rPr>
              <a:t> </a:t>
            </a:r>
            <a:r>
              <a:rPr lang="en-ID" sz="1600" dirty="0" err="1">
                <a:solidFill>
                  <a:schemeClr val="bg1">
                    <a:lumMod val="10000"/>
                  </a:schemeClr>
                </a:solidFill>
                <a:latin typeface="+mj-lt"/>
              </a:rPr>
              <a:t>penyakit</a:t>
            </a:r>
            <a:r>
              <a:rPr lang="en-ID" sz="1600" dirty="0">
                <a:solidFill>
                  <a:schemeClr val="bg1">
                    <a:lumMod val="10000"/>
                  </a:schemeClr>
                </a:solidFill>
                <a:latin typeface="+mj-lt"/>
              </a:rPr>
              <a:t> </a:t>
            </a:r>
            <a:r>
              <a:rPr lang="en-ID" sz="1600" dirty="0" err="1">
                <a:solidFill>
                  <a:schemeClr val="bg1">
                    <a:lumMod val="10000"/>
                  </a:schemeClr>
                </a:solidFill>
                <a:latin typeface="+mj-lt"/>
              </a:rPr>
              <a:t>lambung</a:t>
            </a:r>
            <a:r>
              <a:rPr lang="en-ID" sz="1600" dirty="0">
                <a:solidFill>
                  <a:schemeClr val="bg1">
                    <a:lumMod val="10000"/>
                  </a:schemeClr>
                </a:solidFill>
                <a:latin typeface="+mj-lt"/>
              </a:rPr>
              <a:t> </a:t>
            </a:r>
            <a:r>
              <a:rPr lang="en-ID" sz="1600" dirty="0" err="1">
                <a:solidFill>
                  <a:schemeClr val="bg1">
                    <a:lumMod val="10000"/>
                  </a:schemeClr>
                </a:solidFill>
                <a:latin typeface="+mj-lt"/>
              </a:rPr>
              <a:t>melalui</a:t>
            </a:r>
            <a:r>
              <a:rPr lang="en-ID" sz="1600" dirty="0">
                <a:solidFill>
                  <a:schemeClr val="bg1">
                    <a:lumMod val="10000"/>
                  </a:schemeClr>
                </a:solidFill>
                <a:latin typeface="+mj-lt"/>
              </a:rPr>
              <a:t> platform </a:t>
            </a:r>
            <a:r>
              <a:rPr lang="en-ID" sz="1600" dirty="0" err="1">
                <a:solidFill>
                  <a:schemeClr val="bg1">
                    <a:lumMod val="10000"/>
                  </a:schemeClr>
                </a:solidFill>
                <a:latin typeface="+mj-lt"/>
              </a:rPr>
              <a:t>atau</a:t>
            </a:r>
            <a:r>
              <a:rPr lang="en-ID" sz="1600" dirty="0">
                <a:solidFill>
                  <a:schemeClr val="bg1">
                    <a:lumMod val="10000"/>
                  </a:schemeClr>
                </a:solidFill>
                <a:latin typeface="+mj-lt"/>
              </a:rPr>
              <a:t> website yang </a:t>
            </a:r>
            <a:r>
              <a:rPr lang="en-ID" sz="1600" dirty="0" err="1">
                <a:solidFill>
                  <a:schemeClr val="bg1">
                    <a:lumMod val="10000"/>
                  </a:schemeClr>
                </a:solidFill>
                <a:latin typeface="+mj-lt"/>
              </a:rPr>
              <a:t>dirancang</a:t>
            </a:r>
            <a:r>
              <a:rPr lang="en-ID" sz="1600" dirty="0">
                <a:solidFill>
                  <a:schemeClr val="bg1">
                    <a:lumMod val="10000"/>
                  </a:schemeClr>
                </a:solidFill>
                <a:latin typeface="+mj-lt"/>
              </a:rPr>
              <a:t>. </a:t>
            </a:r>
            <a:endParaRPr lang="id-ID" sz="1600" kern="100" dirty="0">
              <a:solidFill>
                <a:schemeClr val="bg1">
                  <a:lumMod val="10000"/>
                </a:schemeClr>
              </a:solidFill>
              <a:effectLst/>
              <a:latin typeface="+mj-lt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endParaRPr lang="id-ID" sz="1600" kern="100" dirty="0">
              <a:solidFill>
                <a:schemeClr val="bg1">
                  <a:lumMod val="10000"/>
                </a:schemeClr>
              </a:solidFill>
              <a:effectLst/>
              <a:latin typeface="+mj-lt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  <p:cxnSp>
        <p:nvCxnSpPr>
          <p:cNvPr id="927" name="Google Shape;927;p32"/>
          <p:cNvCxnSpPr>
            <a:cxnSpLocks/>
          </p:cNvCxnSpPr>
          <p:nvPr/>
        </p:nvCxnSpPr>
        <p:spPr>
          <a:xfrm>
            <a:off x="1991659" y="792189"/>
            <a:ext cx="4645809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729101379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32"/>
          <p:cNvSpPr txBox="1">
            <a:spLocks noGrp="1"/>
          </p:cNvSpPr>
          <p:nvPr>
            <p:ph type="title"/>
          </p:nvPr>
        </p:nvSpPr>
        <p:spPr>
          <a:xfrm>
            <a:off x="2244074" y="105120"/>
            <a:ext cx="4655852" cy="8822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LANDASAN TEORI</a:t>
            </a:r>
            <a:endParaRPr dirty="0"/>
          </a:p>
        </p:txBody>
      </p:sp>
      <p:sp>
        <p:nvSpPr>
          <p:cNvPr id="926" name="Google Shape;926;p32"/>
          <p:cNvSpPr txBox="1">
            <a:spLocks noGrp="1"/>
          </p:cNvSpPr>
          <p:nvPr>
            <p:ph type="subTitle" idx="1"/>
          </p:nvPr>
        </p:nvSpPr>
        <p:spPr>
          <a:xfrm>
            <a:off x="132381" y="2934934"/>
            <a:ext cx="4223385" cy="21622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en-ID" dirty="0" err="1">
                <a:latin typeface="+mj-lt"/>
              </a:rPr>
              <a:t>Diagnosa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adalah</a:t>
            </a:r>
            <a:r>
              <a:rPr lang="en-ID" dirty="0">
                <a:latin typeface="+mj-lt"/>
              </a:rPr>
              <a:t> proses </a:t>
            </a:r>
            <a:r>
              <a:rPr lang="en-ID" dirty="0" err="1">
                <a:latin typeface="+mj-lt"/>
              </a:rPr>
              <a:t>mengidentifikasi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kelemahan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atau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penyakit</a:t>
            </a:r>
            <a:r>
              <a:rPr lang="en-ID" dirty="0">
                <a:latin typeface="+mj-lt"/>
              </a:rPr>
              <a:t> yang </a:t>
            </a:r>
            <a:r>
              <a:rPr lang="en-ID" dirty="0" err="1">
                <a:latin typeface="+mj-lt"/>
              </a:rPr>
              <a:t>dialami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seseorang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melalui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pengujian</a:t>
            </a:r>
            <a:r>
              <a:rPr lang="en-ID" dirty="0">
                <a:latin typeface="+mj-lt"/>
              </a:rPr>
              <a:t> dan </a:t>
            </a:r>
            <a:r>
              <a:rPr lang="en-ID" dirty="0" err="1">
                <a:latin typeface="+mj-lt"/>
              </a:rPr>
              <a:t>pemeriksaan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gejala-gejalanya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secara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menyeluruh</a:t>
            </a:r>
            <a:r>
              <a:rPr lang="en-ID" dirty="0">
                <a:latin typeface="+mj-lt"/>
              </a:rPr>
              <a:t>.</a:t>
            </a:r>
            <a:endParaRPr lang="en-US" dirty="0">
              <a:latin typeface="+mj-lt"/>
            </a:endParaRPr>
          </a:p>
        </p:txBody>
      </p:sp>
      <p:cxnSp>
        <p:nvCxnSpPr>
          <p:cNvPr id="927" name="Google Shape;927;p32"/>
          <p:cNvCxnSpPr>
            <a:cxnSpLocks/>
          </p:cNvCxnSpPr>
          <p:nvPr/>
        </p:nvCxnSpPr>
        <p:spPr>
          <a:xfrm>
            <a:off x="2430117" y="897309"/>
            <a:ext cx="4310321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Google Shape;926;p32">
            <a:extLst>
              <a:ext uri="{FF2B5EF4-FFF2-40B4-BE49-F238E27FC236}">
                <a16:creationId xmlns:a16="http://schemas.microsoft.com/office/drawing/2014/main" id="{5AC0C9F0-4020-D651-1C77-56762B435304}"/>
              </a:ext>
            </a:extLst>
          </p:cNvPr>
          <p:cNvSpPr txBox="1">
            <a:spLocks/>
          </p:cNvSpPr>
          <p:nvPr/>
        </p:nvSpPr>
        <p:spPr>
          <a:xfrm>
            <a:off x="4580210" y="2892907"/>
            <a:ext cx="3726689" cy="111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None/>
              <a:defRPr sz="1400" b="0" i="0" u="none" strike="noStrike" cap="non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None/>
              <a:defRPr sz="1400" b="0" i="0" u="none" strike="noStrike" cap="non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None/>
              <a:defRPr sz="1400" b="0" i="0" u="none" strike="noStrike" cap="non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None/>
              <a:defRPr sz="1400" b="0" i="0" u="none" strike="noStrike" cap="non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None/>
              <a:defRPr sz="1400" b="0" i="0" u="none" strike="noStrike" cap="non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None/>
              <a:defRPr sz="1400" b="0" i="0" u="none" strike="noStrike" cap="non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None/>
              <a:defRPr sz="1400" b="0" i="0" u="none" strike="noStrike" cap="non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None/>
              <a:defRPr sz="1400" b="0" i="0" u="none" strike="noStrike" cap="non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vo"/>
              <a:buNone/>
              <a:defRPr sz="1400" b="0" i="0" u="none" strike="noStrike" cap="non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pPr marL="0" indent="0" algn="just">
              <a:lnSpc>
                <a:spcPct val="150000"/>
              </a:lnSpc>
            </a:pPr>
            <a:r>
              <a:rPr lang="en-ID" sz="1200" dirty="0">
                <a:latin typeface="+mj-lt"/>
              </a:rPr>
              <a:t>Gastroesophageal Reflux Disease (GERD) </a:t>
            </a:r>
            <a:r>
              <a:rPr lang="en-ID" sz="1200" dirty="0" err="1">
                <a:latin typeface="+mj-lt"/>
              </a:rPr>
              <a:t>adalah</a:t>
            </a:r>
            <a:r>
              <a:rPr lang="en-ID" sz="1200" dirty="0">
                <a:latin typeface="+mj-lt"/>
              </a:rPr>
              <a:t> </a:t>
            </a:r>
            <a:r>
              <a:rPr lang="en-ID" sz="1200" dirty="0" err="1">
                <a:latin typeface="+mj-lt"/>
              </a:rPr>
              <a:t>kondisi</a:t>
            </a:r>
            <a:r>
              <a:rPr lang="en-ID" sz="1200" dirty="0">
                <a:latin typeface="+mj-lt"/>
              </a:rPr>
              <a:t> </a:t>
            </a:r>
            <a:r>
              <a:rPr lang="en-ID" sz="1200" dirty="0" err="1">
                <a:latin typeface="+mj-lt"/>
              </a:rPr>
              <a:t>kronis</a:t>
            </a:r>
            <a:r>
              <a:rPr lang="en-ID" sz="1200" dirty="0">
                <a:latin typeface="+mj-lt"/>
              </a:rPr>
              <a:t> yang </a:t>
            </a:r>
            <a:r>
              <a:rPr lang="en-ID" sz="1200" dirty="0" err="1">
                <a:latin typeface="+mj-lt"/>
              </a:rPr>
              <a:t>sering</a:t>
            </a:r>
            <a:r>
              <a:rPr lang="en-ID" sz="1200" dirty="0">
                <a:latin typeface="+mj-lt"/>
              </a:rPr>
              <a:t> </a:t>
            </a:r>
            <a:r>
              <a:rPr lang="en-ID" sz="1200" dirty="0" err="1">
                <a:latin typeface="+mj-lt"/>
              </a:rPr>
              <a:t>terjadi</a:t>
            </a:r>
            <a:r>
              <a:rPr lang="en-ID" sz="1200" dirty="0">
                <a:latin typeface="+mj-lt"/>
              </a:rPr>
              <a:t> pada orang </a:t>
            </a:r>
            <a:r>
              <a:rPr lang="en-ID" sz="1200" dirty="0" err="1">
                <a:latin typeface="+mj-lt"/>
              </a:rPr>
              <a:t>dewasa</a:t>
            </a:r>
            <a:r>
              <a:rPr lang="en-ID" sz="1200" dirty="0">
                <a:latin typeface="+mj-lt"/>
              </a:rPr>
              <a:t> di </a:t>
            </a:r>
            <a:r>
              <a:rPr lang="en-ID" sz="1200" dirty="0" err="1">
                <a:latin typeface="+mj-lt"/>
              </a:rPr>
              <a:t>masyarakat</a:t>
            </a:r>
            <a:r>
              <a:rPr lang="en-ID" sz="1200" dirty="0">
                <a:latin typeface="+mj-lt"/>
              </a:rPr>
              <a:t>. GERD </a:t>
            </a:r>
            <a:r>
              <a:rPr lang="en-ID" sz="1200" dirty="0" err="1">
                <a:latin typeface="+mj-lt"/>
              </a:rPr>
              <a:t>ditandai</a:t>
            </a:r>
            <a:r>
              <a:rPr lang="en-ID" sz="1200" dirty="0">
                <a:latin typeface="+mj-lt"/>
              </a:rPr>
              <a:t> oleh </a:t>
            </a:r>
            <a:r>
              <a:rPr lang="en-ID" sz="1200" dirty="0" err="1">
                <a:latin typeface="+mj-lt"/>
              </a:rPr>
              <a:t>refluks</a:t>
            </a:r>
            <a:r>
              <a:rPr lang="en-ID" sz="1200" dirty="0">
                <a:latin typeface="+mj-lt"/>
              </a:rPr>
              <a:t> </a:t>
            </a:r>
            <a:r>
              <a:rPr lang="en-ID" sz="1200" dirty="0" err="1">
                <a:latin typeface="+mj-lt"/>
              </a:rPr>
              <a:t>isi</a:t>
            </a:r>
            <a:r>
              <a:rPr lang="en-ID" sz="1200" dirty="0">
                <a:latin typeface="+mj-lt"/>
              </a:rPr>
              <a:t> </a:t>
            </a:r>
            <a:r>
              <a:rPr lang="en-ID" sz="1200" dirty="0" err="1">
                <a:latin typeface="+mj-lt"/>
              </a:rPr>
              <a:t>lambung</a:t>
            </a:r>
            <a:r>
              <a:rPr lang="en-ID" sz="1200" dirty="0">
                <a:latin typeface="+mj-lt"/>
              </a:rPr>
              <a:t> </a:t>
            </a:r>
            <a:r>
              <a:rPr lang="en-ID" sz="1200" dirty="0" err="1">
                <a:latin typeface="+mj-lt"/>
              </a:rPr>
              <a:t>ke</a:t>
            </a:r>
            <a:r>
              <a:rPr lang="en-ID" sz="1200" dirty="0">
                <a:latin typeface="+mj-lt"/>
              </a:rPr>
              <a:t> </a:t>
            </a:r>
            <a:r>
              <a:rPr lang="en-ID" sz="1200" dirty="0" err="1">
                <a:latin typeface="+mj-lt"/>
              </a:rPr>
              <a:t>esofagus</a:t>
            </a:r>
            <a:r>
              <a:rPr lang="en-ID" sz="1200" dirty="0">
                <a:latin typeface="+mj-lt"/>
              </a:rPr>
              <a:t>, yang </a:t>
            </a:r>
            <a:r>
              <a:rPr lang="en-ID" sz="1200" dirty="0" err="1">
                <a:latin typeface="+mj-lt"/>
              </a:rPr>
              <a:t>menyebabkan</a:t>
            </a:r>
            <a:r>
              <a:rPr lang="en-ID" sz="1200" dirty="0">
                <a:latin typeface="+mj-lt"/>
              </a:rPr>
              <a:t> </a:t>
            </a:r>
            <a:r>
              <a:rPr lang="en-ID" sz="1200" dirty="0" err="1">
                <a:latin typeface="+mj-lt"/>
              </a:rPr>
              <a:t>gejala</a:t>
            </a:r>
            <a:r>
              <a:rPr lang="en-ID" sz="1200" dirty="0">
                <a:latin typeface="+mj-lt"/>
              </a:rPr>
              <a:t> </a:t>
            </a:r>
            <a:r>
              <a:rPr lang="en-ID" sz="1200" dirty="0" err="1">
                <a:latin typeface="+mj-lt"/>
              </a:rPr>
              <a:t>seperti</a:t>
            </a:r>
            <a:r>
              <a:rPr lang="en-ID" sz="1200" dirty="0">
                <a:latin typeface="+mj-lt"/>
              </a:rPr>
              <a:t> heartburn (</a:t>
            </a:r>
            <a:r>
              <a:rPr lang="en-ID" sz="1200" dirty="0" err="1">
                <a:latin typeface="+mj-lt"/>
              </a:rPr>
              <a:t>sensasi</a:t>
            </a:r>
            <a:r>
              <a:rPr lang="en-ID" sz="1200" dirty="0">
                <a:latin typeface="+mj-lt"/>
              </a:rPr>
              <a:t> </a:t>
            </a:r>
            <a:r>
              <a:rPr lang="en-ID" sz="1200" dirty="0" err="1">
                <a:latin typeface="+mj-lt"/>
              </a:rPr>
              <a:t>terbakar</a:t>
            </a:r>
            <a:r>
              <a:rPr lang="en-ID" sz="1200" dirty="0">
                <a:latin typeface="+mj-lt"/>
              </a:rPr>
              <a:t> di </a:t>
            </a:r>
            <a:r>
              <a:rPr lang="en-ID" sz="1200" dirty="0" err="1">
                <a:latin typeface="+mj-lt"/>
              </a:rPr>
              <a:t>daerah</a:t>
            </a:r>
            <a:r>
              <a:rPr lang="en-ID" sz="1200" dirty="0">
                <a:latin typeface="+mj-lt"/>
              </a:rPr>
              <a:t> epigastrium), </a:t>
            </a:r>
            <a:r>
              <a:rPr lang="en-ID" sz="1200" dirty="0" err="1">
                <a:latin typeface="+mj-lt"/>
              </a:rPr>
              <a:t>regurgitasi</a:t>
            </a:r>
            <a:r>
              <a:rPr lang="en-ID" sz="1200" dirty="0">
                <a:latin typeface="+mj-lt"/>
              </a:rPr>
              <a:t> </a:t>
            </a:r>
            <a:r>
              <a:rPr lang="en-ID" sz="1200" dirty="0" err="1">
                <a:latin typeface="+mj-lt"/>
              </a:rPr>
              <a:t>asam</a:t>
            </a:r>
            <a:r>
              <a:rPr lang="en-ID" sz="1200" dirty="0">
                <a:latin typeface="+mj-lt"/>
              </a:rPr>
              <a:t> (rasa </a:t>
            </a:r>
            <a:r>
              <a:rPr lang="en-ID" sz="1200" dirty="0" err="1">
                <a:latin typeface="+mj-lt"/>
              </a:rPr>
              <a:t>pahit</a:t>
            </a:r>
            <a:r>
              <a:rPr lang="en-ID" sz="1200" dirty="0">
                <a:latin typeface="+mj-lt"/>
              </a:rPr>
              <a:t> di </a:t>
            </a:r>
            <a:r>
              <a:rPr lang="en-ID" sz="1200" dirty="0" err="1">
                <a:latin typeface="+mj-lt"/>
              </a:rPr>
              <a:t>mulut</a:t>
            </a:r>
            <a:r>
              <a:rPr lang="en-ID" sz="1200" dirty="0">
                <a:latin typeface="+mj-lt"/>
              </a:rPr>
              <a:t>), </a:t>
            </a:r>
            <a:r>
              <a:rPr lang="en-ID" sz="1200" dirty="0" err="1">
                <a:latin typeface="+mj-lt"/>
              </a:rPr>
              <a:t>mual</a:t>
            </a:r>
            <a:r>
              <a:rPr lang="en-ID" sz="1200" dirty="0">
                <a:latin typeface="+mj-lt"/>
              </a:rPr>
              <a:t>, dan </a:t>
            </a:r>
            <a:r>
              <a:rPr lang="en-ID" sz="1200" dirty="0" err="1">
                <a:latin typeface="+mj-lt"/>
              </a:rPr>
              <a:t>kesulitan</a:t>
            </a:r>
            <a:r>
              <a:rPr lang="en-ID" sz="1200" dirty="0">
                <a:latin typeface="+mj-lt"/>
              </a:rPr>
              <a:t> </a:t>
            </a:r>
            <a:r>
              <a:rPr lang="en-ID" sz="1200" dirty="0" err="1">
                <a:latin typeface="+mj-lt"/>
              </a:rPr>
              <a:t>menelan</a:t>
            </a:r>
            <a:r>
              <a:rPr lang="en-ID" sz="1200" dirty="0">
                <a:latin typeface="+mj-lt"/>
              </a:rPr>
              <a:t> (</a:t>
            </a:r>
            <a:r>
              <a:rPr lang="en-ID" sz="1200" dirty="0" err="1">
                <a:latin typeface="+mj-lt"/>
              </a:rPr>
              <a:t>disfagia</a:t>
            </a:r>
            <a:r>
              <a:rPr lang="en-ID" sz="1200" dirty="0">
                <a:latin typeface="+mj-lt"/>
              </a:rPr>
              <a:t>)</a:t>
            </a:r>
            <a:endParaRPr lang="id-ID" sz="1200" kern="100" dirty="0">
              <a:effectLst/>
              <a:latin typeface="+mj-lt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256596-E5F1-080D-D260-2890B848E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926" y="1101392"/>
            <a:ext cx="1651296" cy="178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0D97AF-8E5F-7D17-069A-434B5B85C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5384" y="1057909"/>
            <a:ext cx="1766909" cy="176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009415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32"/>
          <p:cNvSpPr txBox="1">
            <a:spLocks noGrp="1"/>
          </p:cNvSpPr>
          <p:nvPr>
            <p:ph type="title"/>
          </p:nvPr>
        </p:nvSpPr>
        <p:spPr>
          <a:xfrm>
            <a:off x="2244074" y="105120"/>
            <a:ext cx="4655852" cy="8822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LANDASAN TEORI</a:t>
            </a:r>
            <a:endParaRPr dirty="0"/>
          </a:p>
        </p:txBody>
      </p:sp>
      <p:sp>
        <p:nvSpPr>
          <p:cNvPr id="926" name="Google Shape;926;p32"/>
          <p:cNvSpPr txBox="1">
            <a:spLocks noGrp="1"/>
          </p:cNvSpPr>
          <p:nvPr>
            <p:ph type="subTitle" idx="1"/>
          </p:nvPr>
        </p:nvSpPr>
        <p:spPr>
          <a:xfrm>
            <a:off x="132381" y="3065127"/>
            <a:ext cx="4223385" cy="21622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en-ID" dirty="0">
                <a:latin typeface="+mj-lt"/>
              </a:rPr>
              <a:t>Case Based Reasoning (CBR) </a:t>
            </a:r>
            <a:r>
              <a:rPr lang="en-ID" dirty="0" err="1">
                <a:latin typeface="+mj-lt"/>
              </a:rPr>
              <a:t>adalah</a:t>
            </a:r>
            <a:r>
              <a:rPr lang="en-ID" dirty="0">
                <a:latin typeface="+mj-lt"/>
              </a:rPr>
              <a:t> proses </a:t>
            </a:r>
            <a:r>
              <a:rPr lang="en-ID" dirty="0" err="1">
                <a:latin typeface="+mj-lt"/>
              </a:rPr>
              <a:t>untuk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menyelesaikan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masalah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baru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dengan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mengadaptasi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pendekatan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atau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solusi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dari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kasus-kasus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sebelumnya</a:t>
            </a:r>
            <a:r>
              <a:rPr lang="en-ID" dirty="0">
                <a:latin typeface="+mj-lt"/>
              </a:rPr>
              <a:t>. </a:t>
            </a:r>
            <a:endParaRPr lang="en-US" dirty="0">
              <a:latin typeface="+mj-lt"/>
            </a:endParaRPr>
          </a:p>
        </p:txBody>
      </p:sp>
      <p:cxnSp>
        <p:nvCxnSpPr>
          <p:cNvPr id="927" name="Google Shape;927;p32"/>
          <p:cNvCxnSpPr>
            <a:cxnSpLocks/>
          </p:cNvCxnSpPr>
          <p:nvPr/>
        </p:nvCxnSpPr>
        <p:spPr>
          <a:xfrm>
            <a:off x="2430117" y="897309"/>
            <a:ext cx="4310321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Google Shape;926;p32">
            <a:extLst>
              <a:ext uri="{FF2B5EF4-FFF2-40B4-BE49-F238E27FC236}">
                <a16:creationId xmlns:a16="http://schemas.microsoft.com/office/drawing/2014/main" id="{5AC0C9F0-4020-D651-1C77-56762B435304}"/>
              </a:ext>
            </a:extLst>
          </p:cNvPr>
          <p:cNvSpPr txBox="1">
            <a:spLocks/>
          </p:cNvSpPr>
          <p:nvPr/>
        </p:nvSpPr>
        <p:spPr>
          <a:xfrm>
            <a:off x="4355766" y="3021962"/>
            <a:ext cx="4223385" cy="2048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None/>
              <a:defRPr sz="1400" b="0" i="0" u="none" strike="noStrike" cap="non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None/>
              <a:defRPr sz="1400" b="0" i="0" u="none" strike="noStrike" cap="non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None/>
              <a:defRPr sz="1400" b="0" i="0" u="none" strike="noStrike" cap="non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None/>
              <a:defRPr sz="1400" b="0" i="0" u="none" strike="noStrike" cap="non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None/>
              <a:defRPr sz="1400" b="0" i="0" u="none" strike="noStrike" cap="non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None/>
              <a:defRPr sz="1400" b="0" i="0" u="none" strike="noStrike" cap="non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None/>
              <a:defRPr sz="1400" b="0" i="0" u="none" strike="noStrike" cap="non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None/>
              <a:defRPr sz="1400" b="0" i="0" u="none" strike="noStrike" cap="non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vo"/>
              <a:buNone/>
              <a:defRPr sz="1400" b="0" i="0" u="none" strike="noStrike" cap="non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pPr marL="0" indent="0" algn="just">
              <a:lnSpc>
                <a:spcPct val="150000"/>
              </a:lnSpc>
            </a:pPr>
            <a:r>
              <a:rPr lang="en-ID" dirty="0">
                <a:latin typeface="+mj-lt"/>
              </a:rPr>
              <a:t>XAMPP </a:t>
            </a:r>
            <a:r>
              <a:rPr lang="en-ID" dirty="0" err="1">
                <a:latin typeface="+mj-lt"/>
              </a:rPr>
              <a:t>adalah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perangkat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lunak</a:t>
            </a:r>
            <a:r>
              <a:rPr lang="en-ID" dirty="0">
                <a:latin typeface="+mj-lt"/>
              </a:rPr>
              <a:t> open-source yang </a:t>
            </a:r>
            <a:r>
              <a:rPr lang="en-ID" dirty="0" err="1">
                <a:latin typeface="+mj-lt"/>
              </a:rPr>
              <a:t>mendukung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berbagai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sistem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operasi</a:t>
            </a:r>
            <a:r>
              <a:rPr lang="en-ID" dirty="0">
                <a:latin typeface="+mj-lt"/>
              </a:rPr>
              <a:t> dan </a:t>
            </a:r>
            <a:r>
              <a:rPr lang="en-ID" dirty="0" err="1">
                <a:latin typeface="+mj-lt"/>
              </a:rPr>
              <a:t>merupakan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kompilasi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dari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beberapa</a:t>
            </a:r>
            <a:r>
              <a:rPr lang="en-ID" dirty="0">
                <a:latin typeface="+mj-lt"/>
              </a:rPr>
              <a:t> program. XAMPP </a:t>
            </a:r>
            <a:r>
              <a:rPr lang="en-ID" dirty="0" err="1">
                <a:latin typeface="+mj-lt"/>
              </a:rPr>
              <a:t>berfungsi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sebagai</a:t>
            </a:r>
            <a:r>
              <a:rPr lang="en-ID" dirty="0">
                <a:latin typeface="+mj-lt"/>
              </a:rPr>
              <a:t> server </a:t>
            </a:r>
            <a:r>
              <a:rPr lang="en-ID" dirty="0" err="1">
                <a:latin typeface="+mj-lt"/>
              </a:rPr>
              <a:t>mandiri</a:t>
            </a:r>
            <a:r>
              <a:rPr lang="en-ID" dirty="0">
                <a:latin typeface="+mj-lt"/>
              </a:rPr>
              <a:t> (localhost)</a:t>
            </a:r>
            <a:endParaRPr lang="id-ID" kern="100" dirty="0">
              <a:effectLst/>
              <a:latin typeface="+mj-lt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C65170-2F29-FA18-44E7-9A7CD93C9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44" y="1284613"/>
            <a:ext cx="2724150" cy="1676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7DE15C-D303-5E7B-7E9E-08055C6AF0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140" b="94086" l="9594" r="89668">
                        <a14:foregroundMark x1="53506" y1="15591" x2="53506" y2="15591"/>
                        <a14:foregroundMark x1="54244" y1="13978" x2="54244" y2="13978"/>
                        <a14:foregroundMark x1="36162" y1="89247" x2="36162" y2="89247"/>
                        <a14:foregroundMark x1="41328" y1="90860" x2="41328" y2="90860"/>
                        <a14:foregroundMark x1="50185" y1="94086" x2="50185" y2="94086"/>
                        <a14:foregroundMark x1="57196" y1="91398" x2="57196" y2="91398"/>
                        <a14:foregroundMark x1="63469" y1="91398" x2="63469" y2="9139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49800" y="1235713"/>
            <a:ext cx="2581275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684148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32"/>
          <p:cNvSpPr txBox="1">
            <a:spLocks noGrp="1"/>
          </p:cNvSpPr>
          <p:nvPr>
            <p:ph type="title"/>
          </p:nvPr>
        </p:nvSpPr>
        <p:spPr>
          <a:xfrm>
            <a:off x="2244074" y="105120"/>
            <a:ext cx="4655852" cy="8822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LANDASAN TEORI</a:t>
            </a:r>
            <a:endParaRPr dirty="0"/>
          </a:p>
        </p:txBody>
      </p:sp>
      <p:sp>
        <p:nvSpPr>
          <p:cNvPr id="926" name="Google Shape;926;p32"/>
          <p:cNvSpPr txBox="1">
            <a:spLocks noGrp="1"/>
          </p:cNvSpPr>
          <p:nvPr>
            <p:ph type="subTitle" idx="1"/>
          </p:nvPr>
        </p:nvSpPr>
        <p:spPr>
          <a:xfrm>
            <a:off x="318424" y="2173610"/>
            <a:ext cx="4223385" cy="28187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en-ID" dirty="0">
                <a:latin typeface="+mj-lt"/>
              </a:rPr>
              <a:t>Visual Studio Code </a:t>
            </a:r>
            <a:r>
              <a:rPr lang="en-ID" dirty="0" err="1">
                <a:latin typeface="+mj-lt"/>
              </a:rPr>
              <a:t>adalah</a:t>
            </a:r>
            <a:r>
              <a:rPr lang="en-ID" dirty="0">
                <a:latin typeface="+mj-lt"/>
              </a:rPr>
              <a:t> editor </a:t>
            </a:r>
            <a:r>
              <a:rPr lang="en-ID" dirty="0" err="1">
                <a:latin typeface="+mj-lt"/>
              </a:rPr>
              <a:t>kode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sumber</a:t>
            </a:r>
            <a:r>
              <a:rPr lang="en-ID" dirty="0">
                <a:latin typeface="+mj-lt"/>
              </a:rPr>
              <a:t> yang </a:t>
            </a:r>
            <a:r>
              <a:rPr lang="en-ID" dirty="0" err="1">
                <a:latin typeface="+mj-lt"/>
              </a:rPr>
              <a:t>ringan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namun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kuat</a:t>
            </a:r>
            <a:r>
              <a:rPr lang="en-ID" dirty="0">
                <a:latin typeface="+mj-lt"/>
              </a:rPr>
              <a:t> yang </a:t>
            </a:r>
            <a:r>
              <a:rPr lang="en-ID" dirty="0" err="1">
                <a:latin typeface="+mj-lt"/>
              </a:rPr>
              <a:t>dapat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dijalankan</a:t>
            </a:r>
            <a:r>
              <a:rPr lang="en-ID" dirty="0">
                <a:latin typeface="+mj-lt"/>
              </a:rPr>
              <a:t> di desktop dan </a:t>
            </a:r>
            <a:r>
              <a:rPr lang="en-ID" dirty="0" err="1">
                <a:latin typeface="+mj-lt"/>
              </a:rPr>
              <a:t>tersedia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untuk</a:t>
            </a:r>
            <a:r>
              <a:rPr lang="en-ID" dirty="0">
                <a:latin typeface="+mj-lt"/>
              </a:rPr>
              <a:t> Windows, macOS, </a:t>
            </a:r>
            <a:r>
              <a:rPr lang="en-ID" dirty="0" err="1">
                <a:latin typeface="+mj-lt"/>
              </a:rPr>
              <a:t>serta</a:t>
            </a:r>
            <a:r>
              <a:rPr lang="en-ID" dirty="0">
                <a:latin typeface="+mj-lt"/>
              </a:rPr>
              <a:t> Linux. Editor </a:t>
            </a:r>
            <a:r>
              <a:rPr lang="en-ID" dirty="0" err="1">
                <a:latin typeface="+mj-lt"/>
              </a:rPr>
              <a:t>ini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memiliki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dukungan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bawaan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untuk</a:t>
            </a:r>
            <a:r>
              <a:rPr lang="en-ID" dirty="0">
                <a:latin typeface="+mj-lt"/>
              </a:rPr>
              <a:t> JavaScript, TypeScript, dan Node.js, </a:t>
            </a:r>
            <a:r>
              <a:rPr lang="en-ID" dirty="0" err="1">
                <a:latin typeface="+mj-lt"/>
              </a:rPr>
              <a:t>serta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menawarkan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ekosistem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ekstensi</a:t>
            </a:r>
            <a:r>
              <a:rPr lang="en-ID" dirty="0">
                <a:latin typeface="+mj-lt"/>
              </a:rPr>
              <a:t> yang kaya </a:t>
            </a:r>
            <a:r>
              <a:rPr lang="en-ID" dirty="0" err="1">
                <a:latin typeface="+mj-lt"/>
              </a:rPr>
              <a:t>untuk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bahasa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pemrograman</a:t>
            </a:r>
            <a:r>
              <a:rPr lang="en-ID" dirty="0">
                <a:latin typeface="+mj-lt"/>
              </a:rPr>
              <a:t> lain</a:t>
            </a:r>
          </a:p>
          <a:p>
            <a:pPr marL="0" indent="0" algn="just">
              <a:lnSpc>
                <a:spcPct val="150000"/>
              </a:lnSpc>
            </a:pPr>
            <a:r>
              <a:rPr lang="en-ID" b="1" dirty="0">
                <a:latin typeface="+mj-lt"/>
              </a:rPr>
              <a:t>(Muhammad </a:t>
            </a:r>
            <a:r>
              <a:rPr lang="en-ID" b="1" dirty="0" err="1">
                <a:latin typeface="+mj-lt"/>
              </a:rPr>
              <a:t>Romzi</a:t>
            </a:r>
            <a:r>
              <a:rPr lang="en-ID" b="1" dirty="0">
                <a:latin typeface="+mj-lt"/>
              </a:rPr>
              <a:t> 2020). </a:t>
            </a:r>
            <a:endParaRPr lang="en-US" b="1" dirty="0">
              <a:latin typeface="+mj-lt"/>
            </a:endParaRPr>
          </a:p>
        </p:txBody>
      </p:sp>
      <p:cxnSp>
        <p:nvCxnSpPr>
          <p:cNvPr id="927" name="Google Shape;927;p32"/>
          <p:cNvCxnSpPr>
            <a:cxnSpLocks/>
          </p:cNvCxnSpPr>
          <p:nvPr/>
        </p:nvCxnSpPr>
        <p:spPr>
          <a:xfrm>
            <a:off x="2430117" y="897309"/>
            <a:ext cx="4310321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Google Shape;926;p32">
            <a:extLst>
              <a:ext uri="{FF2B5EF4-FFF2-40B4-BE49-F238E27FC236}">
                <a16:creationId xmlns:a16="http://schemas.microsoft.com/office/drawing/2014/main" id="{5AC0C9F0-4020-D651-1C77-56762B435304}"/>
              </a:ext>
            </a:extLst>
          </p:cNvPr>
          <p:cNvSpPr txBox="1">
            <a:spLocks/>
          </p:cNvSpPr>
          <p:nvPr/>
        </p:nvSpPr>
        <p:spPr>
          <a:xfrm>
            <a:off x="4602193" y="2197795"/>
            <a:ext cx="4223385" cy="2818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None/>
              <a:defRPr sz="1400" b="0" i="0" u="none" strike="noStrike" cap="non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None/>
              <a:defRPr sz="1400" b="0" i="0" u="none" strike="noStrike" cap="non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None/>
              <a:defRPr sz="1400" b="0" i="0" u="none" strike="noStrike" cap="non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None/>
              <a:defRPr sz="1400" b="0" i="0" u="none" strike="noStrike" cap="non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None/>
              <a:defRPr sz="1400" b="0" i="0" u="none" strike="noStrike" cap="non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None/>
              <a:defRPr sz="1400" b="0" i="0" u="none" strike="noStrike" cap="non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None/>
              <a:defRPr sz="1400" b="0" i="0" u="none" strike="noStrike" cap="non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None/>
              <a:defRPr sz="1400" b="0" i="0" u="none" strike="noStrike" cap="non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vo"/>
              <a:buNone/>
              <a:defRPr sz="1400" b="0" i="0" u="none" strike="noStrike" cap="non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pPr marL="0" indent="0" algn="just">
              <a:lnSpc>
                <a:spcPct val="150000"/>
              </a:lnSpc>
            </a:pPr>
            <a:r>
              <a:rPr lang="en-ID" dirty="0">
                <a:latin typeface="+mj-lt"/>
              </a:rPr>
              <a:t>Hypertext Preprocessor (PHP) </a:t>
            </a:r>
            <a:r>
              <a:rPr lang="en-ID" dirty="0" err="1">
                <a:latin typeface="+mj-lt"/>
              </a:rPr>
              <a:t>adalah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bahasa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pemrograman</a:t>
            </a:r>
            <a:r>
              <a:rPr lang="en-ID" dirty="0">
                <a:latin typeface="+mj-lt"/>
              </a:rPr>
              <a:t> yang </a:t>
            </a:r>
            <a:r>
              <a:rPr lang="en-ID" dirty="0" err="1">
                <a:latin typeface="+mj-lt"/>
              </a:rPr>
              <a:t>digunakan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untuk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mengubah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kode</a:t>
            </a:r>
            <a:r>
              <a:rPr lang="en-ID" dirty="0">
                <a:latin typeface="+mj-lt"/>
              </a:rPr>
              <a:t> program </a:t>
            </a:r>
            <a:r>
              <a:rPr lang="en-ID" dirty="0" err="1">
                <a:latin typeface="+mj-lt"/>
              </a:rPr>
              <a:t>menjadi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kode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mesin</a:t>
            </a:r>
            <a:r>
              <a:rPr lang="en-ID" dirty="0">
                <a:latin typeface="+mj-lt"/>
              </a:rPr>
              <a:t> yang </a:t>
            </a:r>
            <a:r>
              <a:rPr lang="en-ID" dirty="0" err="1">
                <a:latin typeface="+mj-lt"/>
              </a:rPr>
              <a:t>dapat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dimengerti</a:t>
            </a:r>
            <a:r>
              <a:rPr lang="en-ID" dirty="0">
                <a:latin typeface="+mj-lt"/>
              </a:rPr>
              <a:t> oleh </a:t>
            </a:r>
            <a:r>
              <a:rPr lang="en-ID" dirty="0" err="1">
                <a:latin typeface="+mj-lt"/>
              </a:rPr>
              <a:t>komputer</a:t>
            </a:r>
            <a:r>
              <a:rPr lang="en-ID" dirty="0">
                <a:latin typeface="+mj-lt"/>
              </a:rPr>
              <a:t> di </a:t>
            </a:r>
            <a:r>
              <a:rPr lang="en-ID" dirty="0" err="1">
                <a:latin typeface="+mj-lt"/>
              </a:rPr>
              <a:t>sisi</a:t>
            </a:r>
            <a:r>
              <a:rPr lang="en-ID" dirty="0">
                <a:latin typeface="+mj-lt"/>
              </a:rPr>
              <a:t> server, </a:t>
            </a:r>
            <a:r>
              <a:rPr lang="en-ID" dirty="0" err="1">
                <a:latin typeface="+mj-lt"/>
              </a:rPr>
              <a:t>serta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dapat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disisipkan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ke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dalam</a:t>
            </a:r>
            <a:r>
              <a:rPr lang="en-ID" dirty="0">
                <a:latin typeface="+mj-lt"/>
              </a:rPr>
              <a:t> HTML </a:t>
            </a:r>
          </a:p>
          <a:p>
            <a:pPr marL="0" indent="0" algn="just">
              <a:lnSpc>
                <a:spcPct val="150000"/>
              </a:lnSpc>
            </a:pPr>
            <a:r>
              <a:rPr lang="en-ID" b="1" dirty="0">
                <a:latin typeface="+mj-lt"/>
              </a:rPr>
              <a:t>(</a:t>
            </a:r>
            <a:r>
              <a:rPr lang="en-ID" b="1" dirty="0" err="1">
                <a:latin typeface="+mj-lt"/>
              </a:rPr>
              <a:t>Prahasti</a:t>
            </a:r>
            <a:r>
              <a:rPr lang="en-ID" b="1" dirty="0">
                <a:latin typeface="+mj-lt"/>
              </a:rPr>
              <a:t> 2022).</a:t>
            </a:r>
            <a:endParaRPr lang="id-ID" b="1" kern="100" dirty="0">
              <a:effectLst/>
              <a:latin typeface="+mj-lt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51FD50-4B40-4BA6-DC3C-5A5DC1A540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8649" y="1038225"/>
            <a:ext cx="2990850" cy="1533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717D34-8EFE-1E47-AC60-7DEF644947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778" b="89778" l="3556" r="99556">
                        <a14:foregroundMark x1="40000" y1="47556" x2="68889" y2="42667"/>
                        <a14:foregroundMark x1="68889" y1="42667" x2="90667" y2="51556"/>
                        <a14:foregroundMark x1="90667" y1="51556" x2="64000" y2="51111"/>
                        <a14:foregroundMark x1="64000" y1="51111" x2="87556" y2="48444"/>
                        <a14:foregroundMark x1="87556" y1="48444" x2="75111" y2="70667"/>
                        <a14:foregroundMark x1="75111" y1="70667" x2="42667" y2="60000"/>
                        <a14:foregroundMark x1="42667" y1="60000" x2="67111" y2="40000"/>
                        <a14:foregroundMark x1="67111" y1="40000" x2="10667" y2="59556"/>
                        <a14:foregroundMark x1="10667" y1="59556" x2="7556" y2="37333"/>
                        <a14:foregroundMark x1="7556" y1="37333" x2="23556" y2="58667"/>
                        <a14:foregroundMark x1="23556" y1="58667" x2="23556" y2="58667"/>
                        <a14:foregroundMark x1="60444" y1="45778" x2="38222" y2="59556"/>
                        <a14:foregroundMark x1="38222" y1="59556" x2="63111" y2="49333"/>
                        <a14:foregroundMark x1="63111" y1="49333" x2="20889" y2="62667"/>
                        <a14:foregroundMark x1="20889" y1="62667" x2="34667" y2="41333"/>
                        <a14:foregroundMark x1="34667" y1="41333" x2="13778" y2="49333"/>
                        <a14:foregroundMark x1="13778" y1="49333" x2="36444" y2="53778"/>
                        <a14:foregroundMark x1="36444" y1="53778" x2="60889" y2="40444"/>
                        <a14:foregroundMark x1="60889" y1="40444" x2="16444" y2="51111"/>
                        <a14:foregroundMark x1="16444" y1="51111" x2="43111" y2="38222"/>
                        <a14:foregroundMark x1="43111" y1="38222" x2="64444" y2="56889"/>
                        <a14:foregroundMark x1="64444" y1="56889" x2="87556" y2="62222"/>
                        <a14:foregroundMark x1="87556" y1="62222" x2="65778" y2="33333"/>
                        <a14:foregroundMark x1="65778" y1="33333" x2="3556" y2="55111"/>
                        <a14:foregroundMark x1="3556" y1="55111" x2="24889" y2="38222"/>
                        <a14:foregroundMark x1="24889" y1="38222" x2="64000" y2="34222"/>
                        <a14:foregroundMark x1="64000" y1="34222" x2="77333" y2="54667"/>
                        <a14:foregroundMark x1="77333" y1="54667" x2="50222" y2="65333"/>
                        <a14:foregroundMark x1="50222" y1="65333" x2="60000" y2="45333"/>
                        <a14:foregroundMark x1="60000" y1="45333" x2="18667" y2="53778"/>
                        <a14:foregroundMark x1="18667" y1="53778" x2="36444" y2="36000"/>
                        <a14:foregroundMark x1="36444" y1="36000" x2="20889" y2="58667"/>
                        <a14:foregroundMark x1="20889" y1="58667" x2="28000" y2="64000"/>
                        <a14:foregroundMark x1="96444" y1="56444" x2="98222" y2="56889"/>
                        <a14:foregroundMark x1="32444" y1="28444" x2="32444" y2="28444"/>
                        <a14:foregroundMark x1="33778" y1="27111" x2="33778" y2="27111"/>
                        <a14:foregroundMark x1="31556" y1="28444" x2="24889" y2="31111"/>
                        <a14:foregroundMark x1="22222" y1="32000" x2="22222" y2="32000"/>
                        <a14:foregroundMark x1="27111" y1="30667" x2="27111" y2="30667"/>
                        <a14:foregroundMark x1="29333" y1="28444" x2="29333" y2="28444"/>
                        <a14:foregroundMark x1="28889" y1="26222" x2="28889" y2="26222"/>
                        <a14:foregroundMark x1="24889" y1="28000" x2="24889" y2="28000"/>
                        <a14:foregroundMark x1="48444" y1="23111" x2="48444" y2="23111"/>
                        <a14:foregroundMark x1="65778" y1="33778" x2="65778" y2="33778"/>
                        <a14:foregroundMark x1="72889" y1="40444" x2="72889" y2="40444"/>
                        <a14:foregroundMark x1="81333" y1="44444" x2="84889" y2="46667"/>
                        <a14:foregroundMark x1="82222" y1="51556" x2="82222" y2="51556"/>
                        <a14:foregroundMark x1="99556" y1="50222" x2="98222" y2="50667"/>
                        <a14:foregroundMark x1="92000" y1="52444" x2="92000" y2="52444"/>
                        <a14:foregroundMark x1="77778" y1="44444" x2="77778" y2="44444"/>
                        <a14:foregroundMark x1="81778" y1="42667" x2="81778" y2="42667"/>
                        <a14:foregroundMark x1="84000" y1="44444" x2="85333" y2="45333"/>
                        <a14:foregroundMark x1="86222" y1="45778" x2="80000" y2="42667"/>
                        <a14:foregroundMark x1="80000" y1="42667" x2="79556" y2="41333"/>
                        <a14:foregroundMark x1="80000" y1="40444" x2="82222" y2="38222"/>
                        <a14:foregroundMark x1="83556" y1="38222" x2="83556" y2="38222"/>
                        <a14:foregroundMark x1="83556" y1="38222" x2="82667" y2="40000"/>
                        <a14:foregroundMark x1="79111" y1="41333" x2="79111" y2="41333"/>
                        <a14:foregroundMark x1="78667" y1="44444" x2="73333" y2="47556"/>
                        <a14:foregroundMark x1="71556" y1="50667" x2="71556" y2="50667"/>
                        <a14:foregroundMark x1="71111" y1="51556" x2="70222" y2="54222"/>
                        <a14:foregroundMark x1="68444" y1="57778" x2="67111" y2="59111"/>
                        <a14:foregroundMark x1="65333" y1="62222" x2="62222" y2="6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60261" y="722422"/>
            <a:ext cx="1838818" cy="183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731103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32"/>
          <p:cNvSpPr txBox="1">
            <a:spLocks noGrp="1"/>
          </p:cNvSpPr>
          <p:nvPr>
            <p:ph type="title"/>
          </p:nvPr>
        </p:nvSpPr>
        <p:spPr>
          <a:xfrm>
            <a:off x="2244074" y="105120"/>
            <a:ext cx="4694608" cy="8822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ANALISA KEBUTUHAN</a:t>
            </a:r>
            <a:endParaRPr dirty="0"/>
          </a:p>
        </p:txBody>
      </p:sp>
      <p:sp>
        <p:nvSpPr>
          <p:cNvPr id="926" name="Google Shape;926;p32"/>
          <p:cNvSpPr txBox="1">
            <a:spLocks noGrp="1"/>
          </p:cNvSpPr>
          <p:nvPr>
            <p:ph type="subTitle" idx="1"/>
          </p:nvPr>
        </p:nvSpPr>
        <p:spPr>
          <a:xfrm>
            <a:off x="348615" y="1162390"/>
            <a:ext cx="8446770" cy="38759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en-ID" dirty="0" err="1">
                <a:latin typeface="+mj-lt"/>
              </a:rPr>
              <a:t>Dalam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merancang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aplikasi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sistem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pakar</a:t>
            </a:r>
            <a:r>
              <a:rPr lang="en-ID" dirty="0">
                <a:latin typeface="+mj-lt"/>
              </a:rPr>
              <a:t>, </a:t>
            </a:r>
            <a:r>
              <a:rPr lang="en-ID" dirty="0" err="1">
                <a:latin typeface="+mj-lt"/>
              </a:rPr>
              <a:t>dibutuhkan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analisa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kebutuhan</a:t>
            </a:r>
            <a:r>
              <a:rPr lang="en-ID" dirty="0">
                <a:latin typeface="+mj-lt"/>
              </a:rPr>
              <a:t> yang </a:t>
            </a:r>
            <a:r>
              <a:rPr lang="en-ID" dirty="0" err="1">
                <a:latin typeface="+mj-lt"/>
              </a:rPr>
              <a:t>akan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mendukung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dalam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pembuatan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aplikasi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sistem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pakar</a:t>
            </a:r>
            <a:r>
              <a:rPr lang="en-ID" dirty="0">
                <a:latin typeface="+mj-lt"/>
              </a:rPr>
              <a:t>. </a:t>
            </a:r>
            <a:r>
              <a:rPr lang="en-ID" dirty="0" err="1">
                <a:latin typeface="+mj-lt"/>
              </a:rPr>
              <a:t>Diantaranya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yaitu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kebutuhan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perangkat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keras</a:t>
            </a:r>
            <a:r>
              <a:rPr lang="en-ID" dirty="0">
                <a:latin typeface="+mj-lt"/>
              </a:rPr>
              <a:t> dan </a:t>
            </a:r>
            <a:r>
              <a:rPr lang="en-ID" dirty="0" err="1">
                <a:latin typeface="+mj-lt"/>
              </a:rPr>
              <a:t>kebutuhan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perangkat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lunak</a:t>
            </a:r>
            <a:r>
              <a:rPr lang="en-ID" dirty="0">
                <a:latin typeface="+mj-lt"/>
              </a:rPr>
              <a:t> yang </a:t>
            </a:r>
            <a:r>
              <a:rPr lang="en-ID" dirty="0" err="1">
                <a:latin typeface="+mj-lt"/>
              </a:rPr>
              <a:t>digunakan</a:t>
            </a:r>
            <a:r>
              <a:rPr lang="en-ID" dirty="0">
                <a:latin typeface="+mj-lt"/>
              </a:rPr>
              <a:t>. </a:t>
            </a:r>
            <a:r>
              <a:rPr lang="en-ID" dirty="0" err="1">
                <a:latin typeface="+mj-lt"/>
              </a:rPr>
              <a:t>Berikut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analisa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kebutuhan</a:t>
            </a:r>
            <a:r>
              <a:rPr lang="en-ID" dirty="0">
                <a:latin typeface="+mj-lt"/>
              </a:rPr>
              <a:t> yang </a:t>
            </a:r>
            <a:r>
              <a:rPr lang="en-ID" dirty="0" err="1">
                <a:latin typeface="+mj-lt"/>
              </a:rPr>
              <a:t>digunakan</a:t>
            </a:r>
            <a:r>
              <a:rPr lang="en-ID" dirty="0">
                <a:latin typeface="+mj-lt"/>
              </a:rPr>
              <a:t>: </a:t>
            </a:r>
          </a:p>
          <a:p>
            <a:pPr marL="0" indent="0" algn="just">
              <a:lnSpc>
                <a:spcPct val="150000"/>
              </a:lnSpc>
            </a:pPr>
            <a:r>
              <a:rPr lang="en-ID" dirty="0">
                <a:latin typeface="+mj-lt"/>
              </a:rPr>
              <a:t>1. </a:t>
            </a:r>
            <a:r>
              <a:rPr lang="en-ID" dirty="0" err="1">
                <a:latin typeface="+mj-lt"/>
              </a:rPr>
              <a:t>Perangkat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Keras</a:t>
            </a:r>
            <a:r>
              <a:rPr lang="en-ID" dirty="0">
                <a:latin typeface="+mj-lt"/>
              </a:rPr>
              <a:t> (Hardware) </a:t>
            </a:r>
          </a:p>
          <a:p>
            <a:pPr marL="342900" indent="-342900" algn="just">
              <a:lnSpc>
                <a:spcPct val="150000"/>
              </a:lnSpc>
              <a:buAutoNum type="alphaLcPeriod"/>
            </a:pPr>
            <a:r>
              <a:rPr lang="en-ID" dirty="0">
                <a:latin typeface="+mj-lt"/>
              </a:rPr>
              <a:t>Laptop 		 c. RAM 4 GB </a:t>
            </a:r>
          </a:p>
          <a:p>
            <a:pPr marL="342900" indent="-342900" algn="just">
              <a:lnSpc>
                <a:spcPct val="150000"/>
              </a:lnSpc>
              <a:buFont typeface="Arvo"/>
              <a:buAutoNum type="alphaLcPeriod"/>
            </a:pPr>
            <a:r>
              <a:rPr lang="en-ID" dirty="0">
                <a:latin typeface="+mj-lt"/>
              </a:rPr>
              <a:t>Processor		d. SSD 256 GB</a:t>
            </a:r>
          </a:p>
          <a:p>
            <a:pPr marL="342900" indent="-342900" algn="just">
              <a:lnSpc>
                <a:spcPct val="150000"/>
              </a:lnSpc>
              <a:buFont typeface="Arvo"/>
              <a:buAutoNum type="alphaLcPeriod"/>
            </a:pPr>
            <a:endParaRPr lang="en-ID" dirty="0">
              <a:latin typeface="+mj-lt"/>
            </a:endParaRPr>
          </a:p>
          <a:p>
            <a:pPr marL="0" indent="0" algn="just">
              <a:lnSpc>
                <a:spcPct val="150000"/>
              </a:lnSpc>
            </a:pPr>
            <a:r>
              <a:rPr lang="en-ID" dirty="0">
                <a:latin typeface="+mj-lt"/>
              </a:rPr>
              <a:t>2. </a:t>
            </a:r>
            <a:r>
              <a:rPr lang="en-ID" dirty="0" err="1">
                <a:latin typeface="+mj-lt"/>
              </a:rPr>
              <a:t>Perangkat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Lunak</a:t>
            </a:r>
            <a:r>
              <a:rPr lang="en-ID" dirty="0">
                <a:latin typeface="+mj-lt"/>
              </a:rPr>
              <a:t> (Software)</a:t>
            </a:r>
          </a:p>
          <a:p>
            <a:pPr marL="0" indent="0" algn="just">
              <a:lnSpc>
                <a:spcPct val="150000"/>
              </a:lnSpc>
            </a:pPr>
            <a:r>
              <a:rPr lang="en-ID" dirty="0">
                <a:latin typeface="+mj-lt"/>
              </a:rPr>
              <a:t>a. Visual Studio Code </a:t>
            </a:r>
          </a:p>
          <a:p>
            <a:pPr marL="0" indent="0" algn="just">
              <a:lnSpc>
                <a:spcPct val="150000"/>
              </a:lnSpc>
            </a:pPr>
            <a:r>
              <a:rPr lang="en-ID" dirty="0">
                <a:latin typeface="+mj-lt"/>
              </a:rPr>
              <a:t>b. XAMPP</a:t>
            </a:r>
          </a:p>
          <a:p>
            <a:pPr marL="0" indent="0" algn="just">
              <a:lnSpc>
                <a:spcPct val="150000"/>
              </a:lnSpc>
            </a:pPr>
            <a:r>
              <a:rPr lang="en-ID" dirty="0">
                <a:latin typeface="+mj-lt"/>
              </a:rPr>
              <a:t>c. Google Chrome</a:t>
            </a:r>
          </a:p>
          <a:p>
            <a:pPr marL="0" indent="0" algn="just">
              <a:lnSpc>
                <a:spcPct val="150000"/>
              </a:lnSpc>
            </a:pPr>
            <a:r>
              <a:rPr lang="en-ID" dirty="0">
                <a:latin typeface="+mj-lt"/>
              </a:rPr>
              <a:t>d. Windows 10</a:t>
            </a:r>
            <a:endParaRPr lang="id-ID" dirty="0">
              <a:latin typeface="+mj-lt"/>
            </a:endParaRPr>
          </a:p>
        </p:txBody>
      </p:sp>
      <p:cxnSp>
        <p:nvCxnSpPr>
          <p:cNvPr id="927" name="Google Shape;927;p32"/>
          <p:cNvCxnSpPr>
            <a:cxnSpLocks/>
          </p:cNvCxnSpPr>
          <p:nvPr/>
        </p:nvCxnSpPr>
        <p:spPr>
          <a:xfrm>
            <a:off x="2430117" y="897309"/>
            <a:ext cx="4310321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024660778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32"/>
          <p:cNvSpPr txBox="1">
            <a:spLocks noGrp="1"/>
          </p:cNvSpPr>
          <p:nvPr>
            <p:ph type="title"/>
          </p:nvPr>
        </p:nvSpPr>
        <p:spPr>
          <a:xfrm>
            <a:off x="2244074" y="105120"/>
            <a:ext cx="4655852" cy="8822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METODE PENELITIAN</a:t>
            </a:r>
            <a:endParaRPr dirty="0"/>
          </a:p>
        </p:txBody>
      </p:sp>
      <p:sp>
        <p:nvSpPr>
          <p:cNvPr id="926" name="Google Shape;926;p32"/>
          <p:cNvSpPr txBox="1">
            <a:spLocks noGrp="1"/>
          </p:cNvSpPr>
          <p:nvPr>
            <p:ph type="subTitle" idx="1"/>
          </p:nvPr>
        </p:nvSpPr>
        <p:spPr>
          <a:xfrm>
            <a:off x="174307" y="1235963"/>
            <a:ext cx="8795385" cy="28187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en-ID" dirty="0" err="1">
                <a:latin typeface="+mj-lt"/>
              </a:rPr>
              <a:t>Metode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penelitian</a:t>
            </a:r>
            <a:r>
              <a:rPr lang="en-ID" dirty="0">
                <a:latin typeface="+mj-lt"/>
              </a:rPr>
              <a:t> yang </a:t>
            </a:r>
            <a:r>
              <a:rPr lang="en-ID" dirty="0" err="1">
                <a:latin typeface="+mj-lt"/>
              </a:rPr>
              <a:t>digunakan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adalah</a:t>
            </a:r>
            <a:r>
              <a:rPr lang="en-ID" dirty="0">
                <a:latin typeface="+mj-lt"/>
              </a:rPr>
              <a:t> Case Based Reasoning (CBR), </a:t>
            </a:r>
            <a:r>
              <a:rPr lang="en-ID" dirty="0" err="1">
                <a:latin typeface="+mj-lt"/>
              </a:rPr>
              <a:t>dimana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terdiri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dari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empat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langkah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yaitu</a:t>
            </a:r>
            <a:r>
              <a:rPr lang="en-ID" dirty="0">
                <a:latin typeface="+mj-lt"/>
              </a:rPr>
              <a:t>: retrieve, reuse, revise, </a:t>
            </a:r>
            <a:r>
              <a:rPr lang="en-ID" dirty="0" err="1">
                <a:latin typeface="+mj-lt"/>
              </a:rPr>
              <a:t>retai</a:t>
            </a:r>
            <a:r>
              <a:rPr lang="en-US" dirty="0">
                <a:latin typeface="+mj-lt"/>
              </a:rPr>
              <a:t>n 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D" dirty="0" err="1">
                <a:latin typeface="+mj-lt"/>
              </a:rPr>
              <a:t>Tahap</a:t>
            </a:r>
            <a:r>
              <a:rPr lang="en-ID" dirty="0">
                <a:latin typeface="+mj-lt"/>
              </a:rPr>
              <a:t> Retrieve (</a:t>
            </a:r>
            <a:r>
              <a:rPr lang="en-ID" dirty="0" err="1">
                <a:latin typeface="+mj-lt"/>
              </a:rPr>
              <a:t>Mengambil</a:t>
            </a:r>
            <a:r>
              <a:rPr lang="en-ID" dirty="0">
                <a:latin typeface="+mj-lt"/>
              </a:rPr>
              <a:t>) </a:t>
            </a:r>
            <a:r>
              <a:rPr lang="en-ID" dirty="0" err="1">
                <a:latin typeface="+mj-lt"/>
              </a:rPr>
              <a:t>merupakan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tahap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pengambilan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kasuskasus</a:t>
            </a:r>
            <a:r>
              <a:rPr lang="en-ID" dirty="0">
                <a:latin typeface="+mj-lt"/>
              </a:rPr>
              <a:t> yang </a:t>
            </a:r>
            <a:r>
              <a:rPr lang="en-ID" dirty="0" err="1">
                <a:latin typeface="+mj-lt"/>
              </a:rPr>
              <a:t>relevan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dari</a:t>
            </a:r>
            <a:r>
              <a:rPr lang="en-ID" dirty="0">
                <a:latin typeface="+mj-lt"/>
              </a:rPr>
              <a:t> basis data yang </a:t>
            </a:r>
            <a:r>
              <a:rPr lang="en-ID" dirty="0" err="1">
                <a:latin typeface="+mj-lt"/>
              </a:rPr>
              <a:t>sudah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ada</a:t>
            </a:r>
            <a:r>
              <a:rPr lang="en-ID" dirty="0">
                <a:latin typeface="+mj-lt"/>
              </a:rPr>
              <a:t>.</a:t>
            </a:r>
            <a:endParaRPr lang="en-US" dirty="0">
              <a:latin typeface="+mj-lt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D" dirty="0" err="1">
                <a:latin typeface="+mj-lt"/>
              </a:rPr>
              <a:t>Tahap</a:t>
            </a:r>
            <a:r>
              <a:rPr lang="en-ID" dirty="0">
                <a:latin typeface="+mj-lt"/>
              </a:rPr>
              <a:t> Reuse (</a:t>
            </a:r>
            <a:r>
              <a:rPr lang="en-ID" dirty="0" err="1">
                <a:latin typeface="+mj-lt"/>
              </a:rPr>
              <a:t>Menggunakan</a:t>
            </a:r>
            <a:r>
              <a:rPr lang="en-ID" dirty="0">
                <a:latin typeface="+mj-lt"/>
              </a:rPr>
              <a:t> Kembali) </a:t>
            </a:r>
            <a:r>
              <a:rPr lang="en-ID" dirty="0" err="1">
                <a:latin typeface="+mj-lt"/>
              </a:rPr>
              <a:t>merupakan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tahap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Penggunaan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kembali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solusi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dari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kasus-kasus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tersebut</a:t>
            </a:r>
            <a:r>
              <a:rPr lang="en-ID" dirty="0">
                <a:latin typeface="+mj-lt"/>
              </a:rPr>
              <a:t>. Solusi yang </a:t>
            </a:r>
            <a:r>
              <a:rPr lang="en-ID" dirty="0" err="1">
                <a:latin typeface="+mj-lt"/>
              </a:rPr>
              <a:t>telah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ditemukan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dalam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kasus-kasus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sebelumnya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diterapkan</a:t>
            </a:r>
            <a:r>
              <a:rPr lang="en-ID" dirty="0">
                <a:latin typeface="+mj-lt"/>
              </a:rPr>
              <a:t> pada </a:t>
            </a:r>
            <a:r>
              <a:rPr lang="en-ID" dirty="0" err="1">
                <a:latin typeface="+mj-lt"/>
              </a:rPr>
              <a:t>kasus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baru</a:t>
            </a:r>
            <a:r>
              <a:rPr lang="en-ID" dirty="0">
                <a:latin typeface="+mj-lt"/>
              </a:rPr>
              <a:t>.</a:t>
            </a:r>
            <a:endParaRPr lang="en-US" dirty="0">
              <a:latin typeface="+mj-lt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D" dirty="0" err="1">
                <a:latin typeface="+mj-lt"/>
              </a:rPr>
              <a:t>Tahap</a:t>
            </a:r>
            <a:r>
              <a:rPr lang="en-ID" dirty="0">
                <a:latin typeface="+mj-lt"/>
              </a:rPr>
              <a:t> Revise (</a:t>
            </a:r>
            <a:r>
              <a:rPr lang="en-ID" dirty="0" err="1">
                <a:latin typeface="+mj-lt"/>
              </a:rPr>
              <a:t>Merevisi</a:t>
            </a:r>
            <a:r>
              <a:rPr lang="en-ID" dirty="0">
                <a:latin typeface="+mj-lt"/>
              </a:rPr>
              <a:t>), </a:t>
            </a:r>
            <a:r>
              <a:rPr lang="en-ID" dirty="0" err="1">
                <a:latin typeface="+mj-lt"/>
              </a:rPr>
              <a:t>tahap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ini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dilakukan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apabila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solusi</a:t>
            </a:r>
            <a:r>
              <a:rPr lang="en-ID" dirty="0">
                <a:latin typeface="+mj-lt"/>
              </a:rPr>
              <a:t> yang </a:t>
            </a:r>
            <a:r>
              <a:rPr lang="en-ID" dirty="0" err="1">
                <a:latin typeface="+mj-lt"/>
              </a:rPr>
              <a:t>diterapkan</a:t>
            </a:r>
            <a:r>
              <a:rPr lang="en-ID" dirty="0">
                <a:latin typeface="+mj-lt"/>
              </a:rPr>
              <a:t> pada </a:t>
            </a:r>
            <a:r>
              <a:rPr lang="en-ID" dirty="0" err="1">
                <a:latin typeface="+mj-lt"/>
              </a:rPr>
              <a:t>tahap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sebelumnya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tidak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sepenuhnya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cocok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atau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berhasil</a:t>
            </a:r>
            <a:r>
              <a:rPr lang="en-ID" dirty="0">
                <a:latin typeface="+mj-lt"/>
              </a:rPr>
              <a:t>. </a:t>
            </a:r>
            <a:endParaRPr lang="en-US" dirty="0">
              <a:latin typeface="+mj-lt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D" dirty="0" err="1">
                <a:latin typeface="+mj-lt"/>
              </a:rPr>
              <a:t>Tahap</a:t>
            </a:r>
            <a:r>
              <a:rPr lang="en-ID" dirty="0">
                <a:latin typeface="+mj-lt"/>
              </a:rPr>
              <a:t> Retain (</a:t>
            </a:r>
            <a:r>
              <a:rPr lang="en-ID" dirty="0" err="1">
                <a:latin typeface="+mj-lt"/>
              </a:rPr>
              <a:t>Menyimpan</a:t>
            </a:r>
            <a:r>
              <a:rPr lang="en-ID" dirty="0">
                <a:latin typeface="+mj-lt"/>
              </a:rPr>
              <a:t>) </a:t>
            </a:r>
            <a:r>
              <a:rPr lang="en-ID" dirty="0" err="1">
                <a:latin typeface="+mj-lt"/>
              </a:rPr>
              <a:t>tahap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ini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menyimpan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pengetahuan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baru</a:t>
            </a:r>
            <a:r>
              <a:rPr lang="en-ID" dirty="0">
                <a:latin typeface="+mj-lt"/>
              </a:rPr>
              <a:t> yang di </a:t>
            </a:r>
            <a:r>
              <a:rPr lang="en-ID" dirty="0" err="1">
                <a:latin typeface="+mj-lt"/>
              </a:rPr>
              <a:t>peroleh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dari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kasus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baru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tersebut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ke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dalam</a:t>
            </a:r>
            <a:r>
              <a:rPr lang="en-ID" dirty="0">
                <a:latin typeface="+mj-lt"/>
              </a:rPr>
              <a:t> basis data. </a:t>
            </a:r>
            <a:endParaRPr lang="en-US" dirty="0">
              <a:latin typeface="+mj-lt"/>
            </a:endParaRPr>
          </a:p>
        </p:txBody>
      </p:sp>
      <p:cxnSp>
        <p:nvCxnSpPr>
          <p:cNvPr id="927" name="Google Shape;927;p32"/>
          <p:cNvCxnSpPr>
            <a:cxnSpLocks/>
          </p:cNvCxnSpPr>
          <p:nvPr/>
        </p:nvCxnSpPr>
        <p:spPr>
          <a:xfrm>
            <a:off x="2430117" y="897309"/>
            <a:ext cx="4310321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939407894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25;p32">
            <a:extLst>
              <a:ext uri="{FF2B5EF4-FFF2-40B4-BE49-F238E27FC236}">
                <a16:creationId xmlns:a16="http://schemas.microsoft.com/office/drawing/2014/main" id="{6054E3AD-C5D7-2BA2-875A-708F661F11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44074" y="343625"/>
            <a:ext cx="4655852" cy="8822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ALUR METODE CBR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A2FBCC-ED46-BA36-0236-9212C2076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260" y="1132297"/>
            <a:ext cx="4981480" cy="346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290589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32"/>
          <p:cNvSpPr txBox="1">
            <a:spLocks noGrp="1"/>
          </p:cNvSpPr>
          <p:nvPr>
            <p:ph type="title"/>
          </p:nvPr>
        </p:nvSpPr>
        <p:spPr>
          <a:xfrm>
            <a:off x="2244074" y="105120"/>
            <a:ext cx="4759154" cy="8822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TEKNIK PENGUMPULAN DATA</a:t>
            </a:r>
            <a:endParaRPr sz="3600" dirty="0"/>
          </a:p>
        </p:txBody>
      </p:sp>
      <p:sp>
        <p:nvSpPr>
          <p:cNvPr id="926" name="Google Shape;926;p32"/>
          <p:cNvSpPr txBox="1">
            <a:spLocks noGrp="1"/>
          </p:cNvSpPr>
          <p:nvPr>
            <p:ph type="subTitle" idx="1"/>
          </p:nvPr>
        </p:nvSpPr>
        <p:spPr>
          <a:xfrm>
            <a:off x="348615" y="1162390"/>
            <a:ext cx="8446770" cy="28187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latin typeface="Arvo" panose="020B0604020202020204" charset="0"/>
              </a:rPr>
              <a:t>Studi</a:t>
            </a:r>
            <a:r>
              <a:rPr lang="en-US" sz="1600" dirty="0">
                <a:latin typeface="Arvo" panose="020B0604020202020204" charset="0"/>
              </a:rPr>
              <a:t> Pustaka</a:t>
            </a:r>
          </a:p>
          <a:p>
            <a:pPr marL="0" indent="0" algn="just">
              <a:lnSpc>
                <a:spcPct val="150000"/>
              </a:lnSpc>
            </a:pPr>
            <a:r>
              <a:rPr lang="id-ID" sz="1600" dirty="0">
                <a:effectLst/>
                <a:latin typeface="Arvo" panose="020B0604020202020204" charset="0"/>
                <a:ea typeface="Yu Mincho" panose="02020400000000000000" pitchFamily="18" charset="-128"/>
              </a:rPr>
              <a:t>Metode pengumpulan data dengan mengumpulkan dan mempelajari buku-buku referensi dan sumber-sumber yang berkaitan dengan topik penelitian. </a:t>
            </a:r>
            <a:endParaRPr lang="en-US" sz="1600" dirty="0">
              <a:effectLst/>
              <a:latin typeface="Arvo" panose="020B0604020202020204" charset="0"/>
              <a:ea typeface="Yu Mincho" panose="02020400000000000000" pitchFamily="18" charset="-128"/>
            </a:endParaRPr>
          </a:p>
          <a:p>
            <a:pPr marL="0" indent="0" algn="just">
              <a:lnSpc>
                <a:spcPct val="150000"/>
              </a:lnSpc>
            </a:pPr>
            <a:endParaRPr lang="en-US" sz="1600" dirty="0">
              <a:latin typeface="Arvo" panose="020B060402020202020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latin typeface="Arvo" panose="020B0604020202020204" charset="0"/>
              </a:rPr>
              <a:t>Kuesioner</a:t>
            </a:r>
            <a:endParaRPr lang="en-US" sz="1600" dirty="0">
              <a:latin typeface="Arvo" panose="020B0604020202020204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id-ID" sz="1600" dirty="0">
                <a:effectLst/>
                <a:latin typeface="Arvo" panose="020B0604020202020204" charset="0"/>
                <a:ea typeface="Yu Mincho" panose="02020400000000000000" pitchFamily="18" charset="-128"/>
              </a:rPr>
              <a:t>Metode Pengumpulan data yang dilakukan dengan cara memberi seperangkat pertanyaan atau pernyataan tertulis kepada responden untuk dijawab.</a:t>
            </a:r>
            <a:endParaRPr lang="en-US" sz="1600" dirty="0">
              <a:latin typeface="Arvo" panose="020B0604020202020204" charset="0"/>
            </a:endParaRPr>
          </a:p>
        </p:txBody>
      </p:sp>
      <p:cxnSp>
        <p:nvCxnSpPr>
          <p:cNvPr id="927" name="Google Shape;927;p32"/>
          <p:cNvCxnSpPr>
            <a:cxnSpLocks/>
          </p:cNvCxnSpPr>
          <p:nvPr/>
        </p:nvCxnSpPr>
        <p:spPr>
          <a:xfrm>
            <a:off x="2430117" y="897309"/>
            <a:ext cx="4487050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603405443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32"/>
          <p:cNvSpPr txBox="1">
            <a:spLocks noGrp="1"/>
          </p:cNvSpPr>
          <p:nvPr>
            <p:ph type="title"/>
          </p:nvPr>
        </p:nvSpPr>
        <p:spPr>
          <a:xfrm>
            <a:off x="2211800" y="105120"/>
            <a:ext cx="4759154" cy="8822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PERANCANGAN PENELITIAN</a:t>
            </a:r>
            <a:endParaRPr sz="3600" dirty="0"/>
          </a:p>
        </p:txBody>
      </p:sp>
      <p:cxnSp>
        <p:nvCxnSpPr>
          <p:cNvPr id="927" name="Google Shape;927;p32"/>
          <p:cNvCxnSpPr>
            <a:cxnSpLocks/>
          </p:cNvCxnSpPr>
          <p:nvPr/>
        </p:nvCxnSpPr>
        <p:spPr>
          <a:xfrm>
            <a:off x="2430117" y="897309"/>
            <a:ext cx="4310321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21FB3BA-9653-247A-57AC-B12DECDA4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717" y="1300793"/>
            <a:ext cx="7178566" cy="283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734737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85"/>
          <p:cNvSpPr txBox="1">
            <a:spLocks noGrp="1"/>
          </p:cNvSpPr>
          <p:nvPr>
            <p:ph type="ctrTitle"/>
          </p:nvPr>
        </p:nvSpPr>
        <p:spPr>
          <a:xfrm>
            <a:off x="2373181" y="736948"/>
            <a:ext cx="4397435" cy="83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TERIMA KASIH!</a:t>
            </a:r>
            <a:endParaRPr dirty="0"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1573" name="Google Shape;1573;p85"/>
          <p:cNvSpPr txBox="1"/>
          <p:nvPr/>
        </p:nvSpPr>
        <p:spPr>
          <a:xfrm>
            <a:off x="2507300" y="4271900"/>
            <a:ext cx="41292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Please keep this slide for attribution</a:t>
            </a:r>
            <a:endParaRPr sz="1000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4B7E493-1281-4A8E-99B0-986E830DD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9526" y="1897587"/>
            <a:ext cx="1804744" cy="1348325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My Creative CV XL by Slidesgo">
  <a:themeElements>
    <a:clrScheme name="Simple Light">
      <a:dk1>
        <a:srgbClr val="434343"/>
      </a:dk1>
      <a:lt1>
        <a:srgbClr val="E9E6E1"/>
      </a:lt1>
      <a:dk2>
        <a:srgbClr val="0C2E3A"/>
      </a:dk2>
      <a:lt2>
        <a:srgbClr val="018790"/>
      </a:lt2>
      <a:accent1>
        <a:srgbClr val="FFD497"/>
      </a:accent1>
      <a:accent2>
        <a:srgbClr val="1DCDC3"/>
      </a:accent2>
      <a:accent3>
        <a:srgbClr val="78001B"/>
      </a:accent3>
      <a:accent4>
        <a:srgbClr val="F5340B"/>
      </a:accent4>
      <a:accent5>
        <a:srgbClr val="FF823B"/>
      </a:accent5>
      <a:accent6>
        <a:srgbClr val="FFA73B"/>
      </a:accent6>
      <a:hlink>
        <a:srgbClr val="1DCDC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</TotalTime>
  <Words>925</Words>
  <Application>Microsoft Office PowerPoint</Application>
  <PresentationFormat>On-screen Show (16:9)</PresentationFormat>
  <Paragraphs>78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Arvo</vt:lpstr>
      <vt:lpstr>Arial</vt:lpstr>
      <vt:lpstr>Barlow Condensed SemiBold</vt:lpstr>
      <vt:lpstr>My Creative CV XL by Slidesgo</vt:lpstr>
      <vt:lpstr>PERANCANGAN APLIKASI SISTEM PAKAR BERBASIS WEB UNTUK MENDIAGNOSA GASTROESOPHAGEAL REFLUX DISEASE (GERD) MENGGUNAKAN METODE CASE BASED REASONING (CBR)</vt:lpstr>
      <vt:lpstr>LATAR BELAKANG</vt:lpstr>
      <vt:lpstr>LATAR BELAKANG</vt:lpstr>
      <vt:lpstr>IDENTIFIKASI MASALAH</vt:lpstr>
      <vt:lpstr>RUMUSAN MASALAH</vt:lpstr>
      <vt:lpstr>BATASAN PENELITIAN</vt:lpstr>
      <vt:lpstr>TUJUAN PENELITIAN</vt:lpstr>
      <vt:lpstr>MANFAAT PENELITIAN</vt:lpstr>
      <vt:lpstr>LANDASAN TEORI</vt:lpstr>
      <vt:lpstr>LANDASAN TEORI</vt:lpstr>
      <vt:lpstr>LANDASAN TEORI</vt:lpstr>
      <vt:lpstr>ANALISA KEBUTUHAN</vt:lpstr>
      <vt:lpstr>METODE PENELITIAN</vt:lpstr>
      <vt:lpstr>ALUR METODE CBR</vt:lpstr>
      <vt:lpstr>TEKNIK PENGUMPULAN DATA</vt:lpstr>
      <vt:lpstr>PERANCANGAN PENELITIAN</vt:lpstr>
      <vt:lpstr>TERIMA KASIH!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CREATIVE RESUME</dc:title>
  <dc:creator>Rangga Ariansyah</dc:creator>
  <cp:lastModifiedBy>Rangga Ariansyah</cp:lastModifiedBy>
  <cp:revision>152</cp:revision>
  <dcterms:modified xsi:type="dcterms:W3CDTF">2024-09-19T13:16:35Z</dcterms:modified>
</cp:coreProperties>
</file>